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" id="{bde120a2-e795-0504-805e-4b8e90dec4b4}">
          <p14:sldIdLst>
            <p14:sldId id="256"/>
          </p14:sldIdLst>
        </p14:section>
        <p14:section name="Short story" id="{71124188-0e72-d458-9480-a1dd5f84c491}">
          <p14:sldIdLst>
            <p14:sldId id="257"/>
          </p14:sldIdLst>
        </p14:section>
        <p14:section name="Trevor" id="{51de7671-258d-90af-2edf-2c0b5ff1d831}">
          <p14:sldIdLst>
            <p14:sldId id="258"/>
          </p14:sldIdLst>
        </p14:section>
        <p14:section name="Kelly" id="{4e36d3de-c3ad-42d9-9fd0-36bb54e3c4c1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_DARK">
    <p:bg>
      <p:bgPr>
        <a:solidFill>
          <a:srgbClr val="1E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8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8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ANN ANGEL  ·  SHORT STORY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Bracelet – Summary</a:t>
            </a:r>
            <a:endParaRPr lang="en-US" sz="3400" dirty="0"/>
          </a:p>
        </p:txBody>
      </p:sp>
      <p:sp>
        <p:nvSpPr>
          <p:cNvPr id="4" name="Summary card"/>
          <p:cNvSpPr/>
          <p:nvPr/>
        </p:nvSpPr>
        <p:spPr>
          <a:xfrm>
            <a:off x="457200" y="1143000"/>
            <a:ext cx="5394960" cy="3611880"/>
          </a:xfrm>
          <a:prstGeom prst="roundRect">
            <a:avLst>
              <a:gd name="adj" fmla="val 303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ummary bullets"/>
          <p:cNvSpPr txBox="1"/>
          <p:nvPr/>
        </p:nvSpPr>
        <p:spPr>
          <a:xfrm>
            <a:off x="640080" y="1280160"/>
            <a:ext cx="50292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1"/>
                </a:solidFill>
              </a:rPr>
              <a:t>Kelly turns 16.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Trevor – her date of only two dates – gives her a silver charm bracelet with a heart locket.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1"/>
                </a:solidFill>
              </a:rPr>
              <a:t>Inside the locket: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pink notes saying “Worth Loving” and “XOXO” – but not in Trevor’s handwriting.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1"/>
                </a:solidFill>
              </a:rPr>
              <a:t>Kelly is unsure: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she doesn’t like Trevor enough to call him “Worth Loving.”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1"/>
                </a:solidFill>
              </a:rPr>
              <a:t>Her mom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thinks such a gift means they are serious.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1"/>
                </a:solidFill>
              </a:rPr>
              <a:t>Kat, her best friend,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reveals that Trevor “jacked” (stole) the bracelet at Hot Destiny.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1"/>
                </a:solidFill>
              </a:rPr>
              <a:t>Ending: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disappointed, Kelly gives the bracelet to Kat – “It’s yours.”</a:t>
            </a:r>
            <a:endParaRPr lang="en-US" sz="1500" dirty="0"/>
          </a:p>
        </p:txBody>
      </p:sp>
      <p:sp>
        <p:nvSpPr>
          <p:cNvPr id="6" name="Bracelet loop 1"/>
          <p:cNvSpPr/>
          <p:nvPr/>
        </p:nvSpPr>
        <p:spPr>
          <a:xfrm>
            <a:off x="6263640" y="1417320"/>
            <a:ext cx="502920" cy="502920"/>
          </a:xfrm>
          <a:prstGeom prst="ellipse">
            <a:avLst/>
          </a:prstGeom>
          <a:ln w="38100">
            <a:solidFill>
              <a:schemeClr val="accent2"/>
            </a:solidFill>
            <a:prstDash val="solid"/>
          </a:ln>
        </p:spPr>
      </p:sp>
      <p:sp>
        <p:nvSpPr>
          <p:cNvPr id="7" name="Bracelet loop 2"/>
          <p:cNvSpPr/>
          <p:nvPr/>
        </p:nvSpPr>
        <p:spPr>
          <a:xfrm>
            <a:off x="6647688" y="1417320"/>
            <a:ext cx="502920" cy="502920"/>
          </a:xfrm>
          <a:prstGeom prst="ellipse">
            <a:avLst/>
          </a:prstGeom>
          <a:ln w="38100">
            <a:solidFill>
              <a:schemeClr val="accent2"/>
            </a:solidFill>
            <a:prstDash val="solid"/>
          </a:ln>
        </p:spPr>
      </p:sp>
      <p:sp>
        <p:nvSpPr>
          <p:cNvPr id="8" name="Bracelet loop 3"/>
          <p:cNvSpPr/>
          <p:nvPr/>
        </p:nvSpPr>
        <p:spPr>
          <a:xfrm>
            <a:off x="7031736" y="1417320"/>
            <a:ext cx="502920" cy="502920"/>
          </a:xfrm>
          <a:prstGeom prst="ellipse">
            <a:avLst/>
          </a:prstGeom>
          <a:ln w="38100">
            <a:solidFill>
              <a:schemeClr val="accent2"/>
            </a:solidFill>
            <a:prstDash val="solid"/>
          </a:ln>
        </p:spPr>
      </p:sp>
      <p:sp>
        <p:nvSpPr>
          <p:cNvPr id="9" name="Bracelet loop 4"/>
          <p:cNvSpPr/>
          <p:nvPr/>
        </p:nvSpPr>
        <p:spPr>
          <a:xfrm>
            <a:off x="7415784" y="1417320"/>
            <a:ext cx="502920" cy="502920"/>
          </a:xfrm>
          <a:prstGeom prst="ellipse">
            <a:avLst/>
          </a:prstGeom>
          <a:ln w="38100">
            <a:solidFill>
              <a:schemeClr val="accent2"/>
            </a:solidFill>
            <a:prstDash val="solid"/>
          </a:ln>
        </p:spPr>
      </p:sp>
      <p:sp>
        <p:nvSpPr>
          <p:cNvPr id="10" name="Bracelet loop 5"/>
          <p:cNvSpPr/>
          <p:nvPr/>
        </p:nvSpPr>
        <p:spPr>
          <a:xfrm>
            <a:off x="7799832" y="1417320"/>
            <a:ext cx="502920" cy="502920"/>
          </a:xfrm>
          <a:prstGeom prst="ellipse">
            <a:avLst/>
          </a:prstGeom>
          <a:ln w="38100">
            <a:solidFill>
              <a:schemeClr val="accent2"/>
            </a:solidFill>
            <a:prstDash val="solid"/>
          </a:ln>
        </p:spPr>
      </p:sp>
      <p:sp>
        <p:nvSpPr>
          <p:cNvPr id="11" name="Bracelet loop 6"/>
          <p:cNvSpPr/>
          <p:nvPr/>
        </p:nvSpPr>
        <p:spPr>
          <a:xfrm>
            <a:off x="8183880" y="1417320"/>
            <a:ext cx="502920" cy="502920"/>
          </a:xfrm>
          <a:prstGeom prst="ellipse">
            <a:avLst/>
          </a:prstGeom>
          <a:ln w="38100">
            <a:solidFill>
              <a:schemeClr val="accent2"/>
            </a:solidFill>
            <a:prstDash val="solid"/>
          </a:ln>
        </p:spPr>
      </p:sp>
      <p:sp>
        <p:nvSpPr>
          <p:cNvPr id="12" name="Locket"/>
          <p:cNvSpPr/>
          <p:nvPr/>
        </p:nvSpPr>
        <p:spPr>
          <a:xfrm>
            <a:off x="7086600" y="2103120"/>
            <a:ext cx="1280160" cy="1143000"/>
          </a:xfrm>
          <a:prstGeom prst="hear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Pink note"/>
          <p:cNvSpPr/>
          <p:nvPr/>
        </p:nvSpPr>
        <p:spPr>
          <a:xfrm rot="-180000">
            <a:off x="6400800" y="3429000"/>
            <a:ext cx="265176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ote text"/>
          <p:cNvSpPr txBox="1"/>
          <p:nvPr/>
        </p:nvSpPr>
        <p:spPr>
          <a:xfrm rot="-180000">
            <a:off x="6400800" y="34290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“Worth Loving”</a:t>
            </a:r>
            <a:endParaRPr lang="en-US" sz="2200" dirty="0"/>
          </a:p>
        </p:txBody>
      </p:sp>
      <p:sp>
        <p:nvSpPr>
          <p:cNvPr id="15" name="Note caption"/>
          <p:cNvSpPr txBox="1"/>
          <p:nvPr/>
        </p:nvSpPr>
        <p:spPr>
          <a:xfrm>
            <a:off x="6400800" y="4206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…but is it really?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8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GENRE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it a short story?</a:t>
            </a:r>
            <a:endParaRPr lang="en-US" sz="3400" dirty="0"/>
          </a:p>
        </p:txBody>
      </p:sp>
      <p:sp>
        <p:nvSpPr>
          <p:cNvPr id="4" name="Chain loop 1"/>
          <p:cNvSpPr/>
          <p:nvPr/>
        </p:nvSpPr>
        <p:spPr>
          <a:xfrm>
            <a:off x="7452360" y="384048"/>
            <a:ext cx="365760" cy="365760"/>
          </a:xfrm>
          <a:prstGeom prst="ellipse">
            <a:avLst/>
          </a:prstGeom>
          <a:ln w="25400">
            <a:solidFill>
              <a:schemeClr val="accent2"/>
            </a:solidFill>
            <a:prstDash val="solid"/>
          </a:ln>
        </p:spPr>
      </p:sp>
      <p:sp>
        <p:nvSpPr>
          <p:cNvPr id="5" name="Chain loop 2"/>
          <p:cNvSpPr/>
          <p:nvPr/>
        </p:nvSpPr>
        <p:spPr>
          <a:xfrm>
            <a:off x="7699248" y="384048"/>
            <a:ext cx="365760" cy="365760"/>
          </a:xfrm>
          <a:prstGeom prst="ellipse">
            <a:avLst/>
          </a:prstGeom>
          <a:ln w="25400">
            <a:solidFill>
              <a:schemeClr val="accent2"/>
            </a:solidFill>
            <a:prstDash val="solid"/>
          </a:ln>
        </p:spPr>
      </p:sp>
      <p:sp>
        <p:nvSpPr>
          <p:cNvPr id="6" name="Chain loop 3"/>
          <p:cNvSpPr/>
          <p:nvPr/>
        </p:nvSpPr>
        <p:spPr>
          <a:xfrm>
            <a:off x="7946136" y="384048"/>
            <a:ext cx="365760" cy="365760"/>
          </a:xfrm>
          <a:prstGeom prst="ellipse">
            <a:avLst/>
          </a:prstGeom>
          <a:ln w="25400">
            <a:solidFill>
              <a:schemeClr val="accent2"/>
            </a:solidFill>
            <a:prstDash val="solid"/>
          </a:ln>
        </p:spPr>
      </p:sp>
      <p:sp>
        <p:nvSpPr>
          <p:cNvPr id="7" name="Chain loop 4"/>
          <p:cNvSpPr/>
          <p:nvPr/>
        </p:nvSpPr>
        <p:spPr>
          <a:xfrm>
            <a:off x="8193024" y="384048"/>
            <a:ext cx="365760" cy="365760"/>
          </a:xfrm>
          <a:prstGeom prst="ellipse">
            <a:avLst/>
          </a:prstGeom>
          <a:ln w="25400">
            <a:solidFill>
              <a:schemeClr val="accent2"/>
            </a:solidFill>
            <a:prstDash val="solid"/>
          </a:ln>
        </p:spPr>
      </p:sp>
      <p:sp>
        <p:nvSpPr>
          <p:cNvPr id="8" name="Heart locket"/>
          <p:cNvSpPr/>
          <p:nvPr/>
        </p:nvSpPr>
        <p:spPr>
          <a:xfrm>
            <a:off x="7909560" y="786384"/>
            <a:ext cx="310896" cy="292608"/>
          </a:xfrm>
          <a:prstGeom prst="hear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Feature card 1"/>
          <p:cNvSpPr/>
          <p:nvPr/>
        </p:nvSpPr>
        <p:spPr>
          <a:xfrm>
            <a:off x="457200" y="1188720"/>
            <a:ext cx="2606040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ort length circle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Short length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497330"/>
            <a:ext cx="251460" cy="251460"/>
          </a:xfrm>
          <a:prstGeom prst="rect">
            <a:avLst/>
          </a:prstGeom>
        </p:spPr>
      </p:pic>
      <p:sp>
        <p:nvSpPr>
          <p:cNvPr id="12" name="Short length header"/>
          <p:cNvSpPr txBox="1"/>
          <p:nvPr/>
        </p:nvSpPr>
        <p:spPr>
          <a:xfrm>
            <a:off x="1234440" y="1371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Short length</a:t>
            </a:r>
            <a:endParaRPr lang="en-US" sz="1500" dirty="0"/>
          </a:p>
        </p:txBody>
      </p:sp>
      <p:sp>
        <p:nvSpPr>
          <p:cNvPr id="13" name="Short length text"/>
          <p:cNvSpPr txBox="1"/>
          <p:nvPr/>
        </p:nvSpPr>
        <p:spPr>
          <a:xfrm>
            <a:off x="640080" y="1965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Only about 4 pages (pp. 154–157) – readable in one sitting.</a:t>
            </a:r>
            <a:endParaRPr lang="en-US" sz="1300" dirty="0"/>
          </a:p>
        </p:txBody>
      </p:sp>
      <p:sp>
        <p:nvSpPr>
          <p:cNvPr id="14" name="Feature card 2"/>
          <p:cNvSpPr/>
          <p:nvPr/>
        </p:nvSpPr>
        <p:spPr>
          <a:xfrm>
            <a:off x="3264408" y="1188720"/>
            <a:ext cx="2606040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Few characters circle"/>
          <p:cNvSpPr/>
          <p:nvPr/>
        </p:nvSpPr>
        <p:spPr>
          <a:xfrm>
            <a:off x="3447288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Few character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018" y="1497330"/>
            <a:ext cx="251460" cy="251460"/>
          </a:xfrm>
          <a:prstGeom prst="rect">
            <a:avLst/>
          </a:prstGeom>
        </p:spPr>
      </p:pic>
      <p:sp>
        <p:nvSpPr>
          <p:cNvPr id="17" name="Few characters header"/>
          <p:cNvSpPr txBox="1"/>
          <p:nvPr/>
        </p:nvSpPr>
        <p:spPr>
          <a:xfrm>
            <a:off x="4041648" y="1371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Few characters</a:t>
            </a:r>
            <a:endParaRPr lang="en-US" sz="1500" dirty="0"/>
          </a:p>
        </p:txBody>
      </p:sp>
      <p:sp>
        <p:nvSpPr>
          <p:cNvPr id="18" name="Few characters text"/>
          <p:cNvSpPr txBox="1"/>
          <p:nvPr/>
        </p:nvSpPr>
        <p:spPr>
          <a:xfrm>
            <a:off x="3447288" y="1965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Kelly, Trevor, Kat – plus Mom and the twins Will &amp; Josh.</a:t>
            </a:r>
            <a:endParaRPr lang="en-US" sz="1300" dirty="0"/>
          </a:p>
        </p:txBody>
      </p:sp>
      <p:sp>
        <p:nvSpPr>
          <p:cNvPr id="19" name="Feature card 3"/>
          <p:cNvSpPr/>
          <p:nvPr/>
        </p:nvSpPr>
        <p:spPr>
          <a:xfrm>
            <a:off x="6071616" y="1188720"/>
            <a:ext cx="2606040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One place, short time circle"/>
          <p:cNvSpPr/>
          <p:nvPr/>
        </p:nvSpPr>
        <p:spPr>
          <a:xfrm>
            <a:off x="6254496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One place, short tim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226" y="1497330"/>
            <a:ext cx="251460" cy="251460"/>
          </a:xfrm>
          <a:prstGeom prst="rect">
            <a:avLst/>
          </a:prstGeom>
        </p:spPr>
      </p:pic>
      <p:sp>
        <p:nvSpPr>
          <p:cNvPr id="22" name="One place, short time header"/>
          <p:cNvSpPr txBox="1"/>
          <p:nvPr/>
        </p:nvSpPr>
        <p:spPr>
          <a:xfrm>
            <a:off x="6848856" y="1371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One place, short time</a:t>
            </a:r>
            <a:endParaRPr lang="en-US" sz="1500" dirty="0"/>
          </a:p>
        </p:txBody>
      </p:sp>
      <p:sp>
        <p:nvSpPr>
          <p:cNvPr id="23" name="One place, short time text"/>
          <p:cNvSpPr txBox="1"/>
          <p:nvPr/>
        </p:nvSpPr>
        <p:spPr>
          <a:xfrm>
            <a:off x="6254496" y="1965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Kelly’s house, one afternoon: her 16th birthday.</a:t>
            </a:r>
            <a:endParaRPr lang="en-US" sz="1300" dirty="0"/>
          </a:p>
        </p:txBody>
      </p:sp>
      <p:sp>
        <p:nvSpPr>
          <p:cNvPr id="24" name="Feature card 4"/>
          <p:cNvSpPr/>
          <p:nvPr/>
        </p:nvSpPr>
        <p:spPr>
          <a:xfrm>
            <a:off x="457200" y="3081528"/>
            <a:ext cx="2606040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Abrupt beginning circle"/>
          <p:cNvSpPr/>
          <p:nvPr/>
        </p:nvSpPr>
        <p:spPr>
          <a:xfrm>
            <a:off x="640080" y="326440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Abrupt beginning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3390138"/>
            <a:ext cx="251460" cy="251460"/>
          </a:xfrm>
          <a:prstGeom prst="rect">
            <a:avLst/>
          </a:prstGeom>
        </p:spPr>
      </p:pic>
      <p:sp>
        <p:nvSpPr>
          <p:cNvPr id="27" name="Abrupt beginning header"/>
          <p:cNvSpPr txBox="1"/>
          <p:nvPr/>
        </p:nvSpPr>
        <p:spPr>
          <a:xfrm>
            <a:off x="1234440" y="326440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Abrupt beginning</a:t>
            </a:r>
            <a:endParaRPr lang="en-US" sz="1500" dirty="0"/>
          </a:p>
        </p:txBody>
      </p:sp>
      <p:sp>
        <p:nvSpPr>
          <p:cNvPr id="28" name="Abrupt beginning text"/>
          <p:cNvSpPr txBox="1"/>
          <p:nvPr/>
        </p:nvSpPr>
        <p:spPr>
          <a:xfrm>
            <a:off x="640080" y="385876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Starts in medias res: “Trevor never said hello…” – no introduction.</a:t>
            </a:r>
            <a:endParaRPr lang="en-US" sz="1300" dirty="0"/>
          </a:p>
        </p:txBody>
      </p:sp>
      <p:sp>
        <p:nvSpPr>
          <p:cNvPr id="29" name="Feature card 5"/>
          <p:cNvSpPr/>
          <p:nvPr/>
        </p:nvSpPr>
        <p:spPr>
          <a:xfrm>
            <a:off x="3264408" y="3081528"/>
            <a:ext cx="2606040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One conflict &amp; turning point circle"/>
          <p:cNvSpPr/>
          <p:nvPr/>
        </p:nvSpPr>
        <p:spPr>
          <a:xfrm>
            <a:off x="3447288" y="326440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One conflict &amp; turning point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3018" y="3390138"/>
            <a:ext cx="251460" cy="251460"/>
          </a:xfrm>
          <a:prstGeom prst="rect">
            <a:avLst/>
          </a:prstGeom>
        </p:spPr>
      </p:pic>
      <p:sp>
        <p:nvSpPr>
          <p:cNvPr id="32" name="One conflict &amp;amp; turning point header"/>
          <p:cNvSpPr txBox="1"/>
          <p:nvPr/>
        </p:nvSpPr>
        <p:spPr>
          <a:xfrm>
            <a:off x="4041648" y="326440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One conflict &amp; turning point</a:t>
            </a:r>
            <a:endParaRPr lang="en-US" sz="1500" dirty="0"/>
          </a:p>
        </p:txBody>
      </p:sp>
      <p:sp>
        <p:nvSpPr>
          <p:cNvPr id="33" name="One conflict &amp;amp; turning point text"/>
          <p:cNvSpPr txBox="1"/>
          <p:nvPr/>
        </p:nvSpPr>
        <p:spPr>
          <a:xfrm>
            <a:off x="3447288" y="385876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Everything centers on the bracelet – until Kat reveals it is stolen.</a:t>
            </a:r>
            <a:endParaRPr lang="en-US" sz="1300" dirty="0"/>
          </a:p>
        </p:txBody>
      </p:sp>
      <p:sp>
        <p:nvSpPr>
          <p:cNvPr id="34" name="Feature card 6"/>
          <p:cNvSpPr/>
          <p:nvPr/>
        </p:nvSpPr>
        <p:spPr>
          <a:xfrm>
            <a:off x="6071616" y="3081528"/>
            <a:ext cx="2606040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Open ending circle"/>
          <p:cNvSpPr/>
          <p:nvPr/>
        </p:nvSpPr>
        <p:spPr>
          <a:xfrm>
            <a:off x="6254496" y="326440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6" name="Open ending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0226" y="3390138"/>
            <a:ext cx="251460" cy="251460"/>
          </a:xfrm>
          <a:prstGeom prst="rect">
            <a:avLst/>
          </a:prstGeom>
        </p:spPr>
      </p:pic>
      <p:sp>
        <p:nvSpPr>
          <p:cNvPr id="37" name="Open ending header"/>
          <p:cNvSpPr txBox="1"/>
          <p:nvPr/>
        </p:nvSpPr>
        <p:spPr>
          <a:xfrm>
            <a:off x="6848856" y="326440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Open ending</a:t>
            </a:r>
            <a:endParaRPr lang="en-US" sz="1500" dirty="0"/>
          </a:p>
        </p:txBody>
      </p:sp>
      <p:sp>
        <p:nvSpPr>
          <p:cNvPr id="38" name="Open ending text"/>
          <p:cNvSpPr txBox="1"/>
          <p:nvPr/>
        </p:nvSpPr>
        <p:spPr>
          <a:xfrm>
            <a:off x="6254496" y="385876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“It’s yours.” – what happens with Trevor stays unclear.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8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CHARACTERIZATION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Trevor?</a:t>
            </a:r>
            <a:endParaRPr lang="en-US" sz="3400" dirty="0"/>
          </a:p>
        </p:txBody>
      </p:sp>
      <p:sp>
        <p:nvSpPr>
          <p:cNvPr id="4" name="Chain loop 1"/>
          <p:cNvSpPr/>
          <p:nvPr/>
        </p:nvSpPr>
        <p:spPr>
          <a:xfrm>
            <a:off x="7452360" y="384048"/>
            <a:ext cx="365760" cy="365760"/>
          </a:xfrm>
          <a:prstGeom prst="ellipse">
            <a:avLst/>
          </a:prstGeom>
          <a:ln w="25400">
            <a:solidFill>
              <a:schemeClr val="accent2"/>
            </a:solidFill>
            <a:prstDash val="solid"/>
          </a:ln>
        </p:spPr>
      </p:sp>
      <p:sp>
        <p:nvSpPr>
          <p:cNvPr id="5" name="Chain loop 2"/>
          <p:cNvSpPr/>
          <p:nvPr/>
        </p:nvSpPr>
        <p:spPr>
          <a:xfrm>
            <a:off x="7699248" y="384048"/>
            <a:ext cx="365760" cy="365760"/>
          </a:xfrm>
          <a:prstGeom prst="ellipse">
            <a:avLst/>
          </a:prstGeom>
          <a:ln w="25400">
            <a:solidFill>
              <a:schemeClr val="accent2"/>
            </a:solidFill>
            <a:prstDash val="solid"/>
          </a:ln>
        </p:spPr>
      </p:sp>
      <p:sp>
        <p:nvSpPr>
          <p:cNvPr id="6" name="Chain loop 3"/>
          <p:cNvSpPr/>
          <p:nvPr/>
        </p:nvSpPr>
        <p:spPr>
          <a:xfrm>
            <a:off x="7946136" y="384048"/>
            <a:ext cx="365760" cy="365760"/>
          </a:xfrm>
          <a:prstGeom prst="ellipse">
            <a:avLst/>
          </a:prstGeom>
          <a:ln w="25400">
            <a:solidFill>
              <a:schemeClr val="accent2"/>
            </a:solidFill>
            <a:prstDash val="solid"/>
          </a:ln>
        </p:spPr>
      </p:sp>
      <p:sp>
        <p:nvSpPr>
          <p:cNvPr id="7" name="Chain loop 4"/>
          <p:cNvSpPr/>
          <p:nvPr/>
        </p:nvSpPr>
        <p:spPr>
          <a:xfrm>
            <a:off x="8193024" y="384048"/>
            <a:ext cx="365760" cy="365760"/>
          </a:xfrm>
          <a:prstGeom prst="ellipse">
            <a:avLst/>
          </a:prstGeom>
          <a:ln w="25400">
            <a:solidFill>
              <a:schemeClr val="accent2"/>
            </a:solidFill>
            <a:prstDash val="solid"/>
          </a:ln>
        </p:spPr>
      </p:sp>
      <p:sp>
        <p:nvSpPr>
          <p:cNvPr id="8" name="Heart locket"/>
          <p:cNvSpPr/>
          <p:nvPr/>
        </p:nvSpPr>
        <p:spPr>
          <a:xfrm>
            <a:off x="7909560" y="786384"/>
            <a:ext cx="310896" cy="292608"/>
          </a:xfrm>
          <a:prstGeom prst="hear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Portrait circle"/>
          <p:cNvSpPr/>
          <p:nvPr/>
        </p:nvSpPr>
        <p:spPr>
          <a:xfrm>
            <a:off x="548640" y="1371600"/>
            <a:ext cx="1737360" cy="1737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Portrait initial"/>
          <p:cNvSpPr txBox="1"/>
          <p:nvPr/>
        </p:nvSpPr>
        <p:spPr>
          <a:xfrm>
            <a:off x="548640" y="1371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7200" dirty="0"/>
          </a:p>
        </p:txBody>
      </p:sp>
      <p:sp>
        <p:nvSpPr>
          <p:cNvPr id="11" name="Name"/>
          <p:cNvSpPr txBox="1"/>
          <p:nvPr/>
        </p:nvSpPr>
        <p:spPr>
          <a:xfrm>
            <a:off x="36576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Trevor</a:t>
            </a:r>
            <a:endParaRPr lang="en-US" sz="2000" dirty="0"/>
          </a:p>
        </p:txBody>
      </p:sp>
      <p:sp>
        <p:nvSpPr>
          <p:cNvPr id="12" name="Role"/>
          <p:cNvSpPr txBox="1"/>
          <p:nvPr/>
        </p:nvSpPr>
        <p:spPr>
          <a:xfrm>
            <a:off x="365760" y="3657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Kelly’s new boyfriend</a:t>
            </a:r>
            <a:endParaRPr lang="en-US" sz="1200" dirty="0"/>
          </a:p>
        </p:txBody>
      </p:sp>
      <p:sp>
        <p:nvSpPr>
          <p:cNvPr id="13" name="Appearance card"/>
          <p:cNvSpPr/>
          <p:nvPr/>
        </p:nvSpPr>
        <p:spPr>
          <a:xfrm>
            <a:off x="2697480" y="1188720"/>
            <a:ext cx="278892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Appearance circle"/>
          <p:cNvSpPr/>
          <p:nvPr/>
        </p:nvSpPr>
        <p:spPr>
          <a:xfrm>
            <a:off x="2880360" y="1353312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Appearanc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3230" y="1456182"/>
            <a:ext cx="205740" cy="205740"/>
          </a:xfrm>
          <a:prstGeom prst="rect">
            <a:avLst/>
          </a:prstGeom>
        </p:spPr>
      </p:pic>
      <p:sp>
        <p:nvSpPr>
          <p:cNvPr id="16" name="Appearance header"/>
          <p:cNvSpPr txBox="1"/>
          <p:nvPr/>
        </p:nvSpPr>
        <p:spPr>
          <a:xfrm>
            <a:off x="3429000" y="135331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Appearance</a:t>
            </a:r>
            <a:endParaRPr lang="en-US" sz="1600" dirty="0"/>
          </a:p>
        </p:txBody>
      </p:sp>
      <p:sp>
        <p:nvSpPr>
          <p:cNvPr id="17" name="Appearance text"/>
          <p:cNvSpPr txBox="1"/>
          <p:nvPr/>
        </p:nvSpPr>
        <p:spPr>
          <a:xfrm>
            <a:off x="2834640" y="18745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Curly, messy hair</a:t>
            </a:r>
            <a:br/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“curls that never looked combed”</a:t>
            </a:r>
            <a:endParaRPr lang="en-US" sz="1400" dirty="0"/>
          </a:p>
        </p:txBody>
      </p:sp>
      <p:sp>
        <p:nvSpPr>
          <p:cNvPr id="18" name="Personal info card"/>
          <p:cNvSpPr/>
          <p:nvPr/>
        </p:nvSpPr>
        <p:spPr>
          <a:xfrm>
            <a:off x="2697480" y="2514600"/>
            <a:ext cx="278892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Personal info circle"/>
          <p:cNvSpPr/>
          <p:nvPr/>
        </p:nvSpPr>
        <p:spPr>
          <a:xfrm>
            <a:off x="2880360" y="2679192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Personal info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3230" y="2782062"/>
            <a:ext cx="205740" cy="205740"/>
          </a:xfrm>
          <a:prstGeom prst="rect">
            <a:avLst/>
          </a:prstGeom>
        </p:spPr>
      </p:pic>
      <p:sp>
        <p:nvSpPr>
          <p:cNvPr id="21" name="Personal info header"/>
          <p:cNvSpPr txBox="1"/>
          <p:nvPr/>
        </p:nvSpPr>
        <p:spPr>
          <a:xfrm>
            <a:off x="3429000" y="267919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Personal info</a:t>
            </a:r>
            <a:endParaRPr lang="en-US" sz="1600" dirty="0"/>
          </a:p>
        </p:txBody>
      </p:sp>
      <p:sp>
        <p:nvSpPr>
          <p:cNvPr id="22" name="Personal info text"/>
          <p:cNvSpPr txBox="1"/>
          <p:nvPr/>
        </p:nvSpPr>
        <p:spPr>
          <a:xfrm>
            <a:off x="2834640" y="32004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Does track → athletic</a:t>
            </a:r>
            <a:br/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“I gotta show up for track practice”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Thief – stole the bracelet</a:t>
            </a:r>
            <a:br/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“he ‘jacked’ the bracelet”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Bad handwriting</a:t>
            </a:r>
            <a:br/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“the cramped style”</a:t>
            </a:r>
            <a:endParaRPr lang="en-US" sz="1400" dirty="0"/>
          </a:p>
        </p:txBody>
      </p:sp>
      <p:sp>
        <p:nvSpPr>
          <p:cNvPr id="23" name="Character card"/>
          <p:cNvSpPr/>
          <p:nvPr/>
        </p:nvSpPr>
        <p:spPr>
          <a:xfrm>
            <a:off x="5669280" y="1188720"/>
            <a:ext cx="3017520" cy="356616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Character circle"/>
          <p:cNvSpPr/>
          <p:nvPr/>
        </p:nvSpPr>
        <p:spPr>
          <a:xfrm>
            <a:off x="5852160" y="1353312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5" name="Character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030" y="1456182"/>
            <a:ext cx="205740" cy="205740"/>
          </a:xfrm>
          <a:prstGeom prst="rect">
            <a:avLst/>
          </a:prstGeom>
        </p:spPr>
      </p:pic>
      <p:sp>
        <p:nvSpPr>
          <p:cNvPr id="26" name="Character header"/>
          <p:cNvSpPr txBox="1"/>
          <p:nvPr/>
        </p:nvSpPr>
        <p:spPr>
          <a:xfrm>
            <a:off x="6400800" y="13533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Character</a:t>
            </a:r>
            <a:endParaRPr lang="en-US" sz="1600" dirty="0"/>
          </a:p>
        </p:txBody>
      </p:sp>
      <p:sp>
        <p:nvSpPr>
          <p:cNvPr id="27" name="Character text"/>
          <p:cNvSpPr txBox="1"/>
          <p:nvPr/>
        </p:nvSpPr>
        <p:spPr>
          <a:xfrm>
            <a:off x="5806440" y="1874520"/>
            <a:ext cx="2743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Quiet, doesn’t talk much</a:t>
            </a:r>
            <a:br/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“Trevor was a guy of few words.”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Dishonest</a:t>
            </a:r>
            <a:br/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doesn’t tell Kelly the bracelet is stolen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Offhanded / confident</a:t>
            </a:r>
            <a:br/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“He spoke so offhandedly I was surprised.”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8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CHARACTERIZATION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Kelly?</a:t>
            </a:r>
            <a:endParaRPr lang="en-US" sz="3400" dirty="0"/>
          </a:p>
        </p:txBody>
      </p:sp>
      <p:sp>
        <p:nvSpPr>
          <p:cNvPr id="4" name="Chain loop 1"/>
          <p:cNvSpPr/>
          <p:nvPr/>
        </p:nvSpPr>
        <p:spPr>
          <a:xfrm>
            <a:off x="7452360" y="384048"/>
            <a:ext cx="365760" cy="365760"/>
          </a:xfrm>
          <a:prstGeom prst="ellipse">
            <a:avLst/>
          </a:prstGeom>
          <a:ln w="25400">
            <a:solidFill>
              <a:schemeClr val="accent2"/>
            </a:solidFill>
            <a:prstDash val="solid"/>
          </a:ln>
        </p:spPr>
      </p:sp>
      <p:sp>
        <p:nvSpPr>
          <p:cNvPr id="5" name="Chain loop 2"/>
          <p:cNvSpPr/>
          <p:nvPr/>
        </p:nvSpPr>
        <p:spPr>
          <a:xfrm>
            <a:off x="7699248" y="384048"/>
            <a:ext cx="365760" cy="365760"/>
          </a:xfrm>
          <a:prstGeom prst="ellipse">
            <a:avLst/>
          </a:prstGeom>
          <a:ln w="25400">
            <a:solidFill>
              <a:schemeClr val="accent2"/>
            </a:solidFill>
            <a:prstDash val="solid"/>
          </a:ln>
        </p:spPr>
      </p:sp>
      <p:sp>
        <p:nvSpPr>
          <p:cNvPr id="6" name="Chain loop 3"/>
          <p:cNvSpPr/>
          <p:nvPr/>
        </p:nvSpPr>
        <p:spPr>
          <a:xfrm>
            <a:off x="7946136" y="384048"/>
            <a:ext cx="365760" cy="365760"/>
          </a:xfrm>
          <a:prstGeom prst="ellipse">
            <a:avLst/>
          </a:prstGeom>
          <a:ln w="25400">
            <a:solidFill>
              <a:schemeClr val="accent2"/>
            </a:solidFill>
            <a:prstDash val="solid"/>
          </a:ln>
        </p:spPr>
      </p:sp>
      <p:sp>
        <p:nvSpPr>
          <p:cNvPr id="7" name="Chain loop 4"/>
          <p:cNvSpPr/>
          <p:nvPr/>
        </p:nvSpPr>
        <p:spPr>
          <a:xfrm>
            <a:off x="8193024" y="384048"/>
            <a:ext cx="365760" cy="365760"/>
          </a:xfrm>
          <a:prstGeom prst="ellipse">
            <a:avLst/>
          </a:prstGeom>
          <a:ln w="25400">
            <a:solidFill>
              <a:schemeClr val="accent2"/>
            </a:solidFill>
            <a:prstDash val="solid"/>
          </a:ln>
        </p:spPr>
      </p:sp>
      <p:sp>
        <p:nvSpPr>
          <p:cNvPr id="8" name="Heart locket"/>
          <p:cNvSpPr/>
          <p:nvPr/>
        </p:nvSpPr>
        <p:spPr>
          <a:xfrm>
            <a:off x="7909560" y="786384"/>
            <a:ext cx="310896" cy="292608"/>
          </a:xfrm>
          <a:prstGeom prst="hear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Portrait circle"/>
          <p:cNvSpPr/>
          <p:nvPr/>
        </p:nvSpPr>
        <p:spPr>
          <a:xfrm>
            <a:off x="548640" y="1371600"/>
            <a:ext cx="1737360" cy="1737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ortrait initial"/>
          <p:cNvSpPr txBox="1"/>
          <p:nvPr/>
        </p:nvSpPr>
        <p:spPr>
          <a:xfrm>
            <a:off x="548640" y="1371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7200" dirty="0"/>
          </a:p>
        </p:txBody>
      </p:sp>
      <p:sp>
        <p:nvSpPr>
          <p:cNvPr id="11" name="Name"/>
          <p:cNvSpPr txBox="1"/>
          <p:nvPr/>
        </p:nvSpPr>
        <p:spPr>
          <a:xfrm>
            <a:off x="36576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Kelly</a:t>
            </a:r>
            <a:endParaRPr lang="en-US" sz="2000" dirty="0"/>
          </a:p>
        </p:txBody>
      </p:sp>
      <p:sp>
        <p:nvSpPr>
          <p:cNvPr id="12" name="Role"/>
          <p:cNvSpPr txBox="1"/>
          <p:nvPr/>
        </p:nvSpPr>
        <p:spPr>
          <a:xfrm>
            <a:off x="365760" y="3657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Protagonist &amp; first-person narrator</a:t>
            </a:r>
            <a:endParaRPr lang="en-US" sz="1200" dirty="0"/>
          </a:p>
        </p:txBody>
      </p:sp>
      <p:sp>
        <p:nvSpPr>
          <p:cNvPr id="13" name="Appearance card"/>
          <p:cNvSpPr/>
          <p:nvPr/>
        </p:nvSpPr>
        <p:spPr>
          <a:xfrm>
            <a:off x="2697480" y="1188720"/>
            <a:ext cx="278892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Appearance circle"/>
          <p:cNvSpPr/>
          <p:nvPr/>
        </p:nvSpPr>
        <p:spPr>
          <a:xfrm>
            <a:off x="2880360" y="1353312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Appearanc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3230" y="1456182"/>
            <a:ext cx="205740" cy="205740"/>
          </a:xfrm>
          <a:prstGeom prst="rect">
            <a:avLst/>
          </a:prstGeom>
        </p:spPr>
      </p:pic>
      <p:sp>
        <p:nvSpPr>
          <p:cNvPr id="16" name="Appearance header"/>
          <p:cNvSpPr txBox="1"/>
          <p:nvPr/>
        </p:nvSpPr>
        <p:spPr>
          <a:xfrm>
            <a:off x="3429000" y="135331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Appearance</a:t>
            </a:r>
            <a:endParaRPr lang="en-US" sz="1600" dirty="0"/>
          </a:p>
        </p:txBody>
      </p:sp>
      <p:sp>
        <p:nvSpPr>
          <p:cNvPr id="17" name="Appearance text"/>
          <p:cNvSpPr txBox="1"/>
          <p:nvPr/>
        </p:nvSpPr>
        <p:spPr>
          <a:xfrm>
            <a:off x="2834640" y="18745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Not described</a:t>
            </a:r>
            <a:br/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we only see through her eyes</a:t>
            </a:r>
            <a:endParaRPr lang="en-US" sz="1400" dirty="0"/>
          </a:p>
        </p:txBody>
      </p:sp>
      <p:sp>
        <p:nvSpPr>
          <p:cNvPr id="18" name="Personal info card"/>
          <p:cNvSpPr/>
          <p:nvPr/>
        </p:nvSpPr>
        <p:spPr>
          <a:xfrm>
            <a:off x="2697480" y="2514600"/>
            <a:ext cx="278892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Personal info circle"/>
          <p:cNvSpPr/>
          <p:nvPr/>
        </p:nvSpPr>
        <p:spPr>
          <a:xfrm>
            <a:off x="2880360" y="2679192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Personal info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3230" y="2782062"/>
            <a:ext cx="205740" cy="205740"/>
          </a:xfrm>
          <a:prstGeom prst="rect">
            <a:avLst/>
          </a:prstGeom>
        </p:spPr>
      </p:pic>
      <p:sp>
        <p:nvSpPr>
          <p:cNvPr id="21" name="Personal info header"/>
          <p:cNvSpPr txBox="1"/>
          <p:nvPr/>
        </p:nvSpPr>
        <p:spPr>
          <a:xfrm>
            <a:off x="3429000" y="267919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Personal info</a:t>
            </a:r>
            <a:endParaRPr lang="en-US" sz="1600" dirty="0"/>
          </a:p>
        </p:txBody>
      </p:sp>
      <p:sp>
        <p:nvSpPr>
          <p:cNvPr id="22" name="Personal info text"/>
          <p:cNvSpPr txBox="1"/>
          <p:nvPr/>
        </p:nvSpPr>
        <p:spPr>
          <a:xfrm>
            <a:off x="2834640" y="32004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Sixteen</a:t>
            </a:r>
            <a:br/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“Oh, sixteen.”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Lives with mom &amp; younger twins Josh &amp; Will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Aunt Joanie &amp; best friend Kat</a:t>
            </a:r>
            <a:endParaRPr lang="en-US" sz="1400" dirty="0"/>
          </a:p>
        </p:txBody>
      </p:sp>
      <p:sp>
        <p:nvSpPr>
          <p:cNvPr id="23" name="Character card"/>
          <p:cNvSpPr/>
          <p:nvPr/>
        </p:nvSpPr>
        <p:spPr>
          <a:xfrm>
            <a:off x="5669280" y="1188720"/>
            <a:ext cx="3017520" cy="356616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Character circle"/>
          <p:cNvSpPr/>
          <p:nvPr/>
        </p:nvSpPr>
        <p:spPr>
          <a:xfrm>
            <a:off x="5852160" y="1353312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Character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030" y="1456182"/>
            <a:ext cx="205740" cy="205740"/>
          </a:xfrm>
          <a:prstGeom prst="rect">
            <a:avLst/>
          </a:prstGeom>
        </p:spPr>
      </p:pic>
      <p:sp>
        <p:nvSpPr>
          <p:cNvPr id="26" name="Character header"/>
          <p:cNvSpPr txBox="1"/>
          <p:nvPr/>
        </p:nvSpPr>
        <p:spPr>
          <a:xfrm>
            <a:off x="6400800" y="13533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Character</a:t>
            </a:r>
            <a:endParaRPr lang="en-US" sz="1600" dirty="0"/>
          </a:p>
        </p:txBody>
      </p:sp>
      <p:sp>
        <p:nvSpPr>
          <p:cNvPr id="27" name="Character text"/>
          <p:cNvSpPr txBox="1"/>
          <p:nvPr/>
        </p:nvSpPr>
        <p:spPr>
          <a:xfrm>
            <a:off x="5806440" y="1874520"/>
            <a:ext cx="2743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Emotional – touched by the bracelet</a:t>
            </a:r>
            <a:br/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“the blush that warmed my face”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Confused – uncertain about her feelings for Trevor</a:t>
            </a:r>
            <a:br/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“I wasn’t sure how I felt about him though.”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Thoughtful – thinks about the relationship</a:t>
            </a:r>
            <a:br/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“I wondered just what the value of this bracelet was to Trevor.”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8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lver and Pink">
  <a:themeElements>
    <a:clrScheme name="Silver and Pink">
      <a:dk1>
        <a:srgbClr val="1E1A24"/>
      </a:dk1>
      <a:lt1>
        <a:srgbClr val="FFFFFF"/>
      </a:lt1>
      <a:dk2>
        <a:srgbClr val="2F2A37"/>
      </a:dk2>
      <a:lt2>
        <a:srgbClr val="C9CCD3"/>
      </a:lt2>
      <a:accent1>
        <a:srgbClr val="FF4F9A"/>
      </a:accent1>
      <a:accent2>
        <a:srgbClr val="C9CCD3"/>
      </a:accent2>
      <a:accent3>
        <a:srgbClr val="7FD6CB"/>
      </a:accent3>
      <a:accent4>
        <a:srgbClr val="B79CFF"/>
      </a:accent4>
      <a:accent5>
        <a:srgbClr val="FFB3D1"/>
      </a:accent5>
      <a:accent6>
        <a:srgbClr val="8E8A96"/>
      </a:accent6>
      <a:hlink>
        <a:srgbClr val="FF4F9A"/>
      </a:hlink>
      <a:folHlink>
        <a:srgbClr val="B79CFF"/>
      </a:folHlink>
    </a:clrScheme>
    <a:fontScheme name="Silver and Pin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Bracelet – Ann Angel</dc:title>
  <dc:subject>PptxGenJS Presentation</dc:subject>
  <dc:creator>PptxGenJS</dc:creator>
  <cp:lastModifiedBy>PptxGenJS</cp:lastModifiedBy>
  <cp:revision>1</cp:revision>
  <dcterms:created xsi:type="dcterms:W3CDTF">2026-10-12T07:07:17Z</dcterms:created>
  <dcterms:modified xsi:type="dcterms:W3CDTF">2026-10-12T07:07:17Z</dcterms:modified>
</cp:coreProperties>
</file>