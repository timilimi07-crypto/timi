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e323643b-5b02-4c12-2c4b-6c4b993f1791}">
          <p14:sldIdLst>
            <p14:sldId id="256"/>
          </p14:sldIdLst>
        </p14:section>
        <p14:section name="Short story" id="{17153705-6058-8272-2a1b-f68c5a6f0f47}">
          <p14:sldIdLst>
            <p14:sldId id="257"/>
          </p14:sldIdLst>
        </p14:section>
        <p14:section name="Effect" id="{e4078d63-a24d-342b-1be6-7be770b8f9a6}">
          <p14:sldIdLst>
            <p14:sldId id="258"/>
          </p14:sldIdLst>
        </p14:section>
        <p14:section name="Perspective" id="{80b7636a-a5aa-b832-0e0c-4900a12bf92f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_DARK">
    <p:bg>
      <p:bgPr>
        <a:solidFill>
          <a:srgbClr val="1E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A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A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ANN ANGEL  ·  SHORT STORY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Bracelet – Summary</a:t>
            </a:r>
            <a:endParaRPr lang="en-US" sz="3400" dirty="0"/>
          </a:p>
        </p:txBody>
      </p:sp>
      <p:sp>
        <p:nvSpPr>
          <p:cNvPr id="4" name="Summary card"/>
          <p:cNvSpPr/>
          <p:nvPr/>
        </p:nvSpPr>
        <p:spPr>
          <a:xfrm>
            <a:off x="457200" y="1143000"/>
            <a:ext cx="5394960" cy="3611880"/>
          </a:xfrm>
          <a:prstGeom prst="roundRect">
            <a:avLst>
              <a:gd name="adj" fmla="val 30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ummary bullets"/>
          <p:cNvSpPr txBox="1"/>
          <p:nvPr/>
        </p:nvSpPr>
        <p:spPr>
          <a:xfrm>
            <a:off x="640080" y="1280160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Kelly turns 16.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Trevor – her date of only two dates – gives her a silver charm bracelet with a heart locket.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Inside the locket: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pink notes saying “Worth Loving” and “XOXO” – but not in Trevor’s handwriting.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Kelly is unsure: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she doesn’t like Trevor enough to call him “Worth Loving.”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Her mom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thinks such a gift means they are serious.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Kat, her best friend,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reveals that Trevor “jacked” (stole) the bracelet at Hot Destiny.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Ending: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disappointed, Kelly gives the bracelet to Kat – “It’s yours.”</a:t>
            </a:r>
            <a:endParaRPr lang="en-US" sz="1500" dirty="0"/>
          </a:p>
        </p:txBody>
      </p:sp>
      <p:sp>
        <p:nvSpPr>
          <p:cNvPr id="6" name="Bracelet loop 1"/>
          <p:cNvSpPr/>
          <p:nvPr/>
        </p:nvSpPr>
        <p:spPr>
          <a:xfrm>
            <a:off x="6263640" y="1417320"/>
            <a:ext cx="502920" cy="502920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7" name="Bracelet loop 2"/>
          <p:cNvSpPr/>
          <p:nvPr/>
        </p:nvSpPr>
        <p:spPr>
          <a:xfrm>
            <a:off x="6647688" y="1417320"/>
            <a:ext cx="502920" cy="502920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8" name="Bracelet loop 3"/>
          <p:cNvSpPr/>
          <p:nvPr/>
        </p:nvSpPr>
        <p:spPr>
          <a:xfrm>
            <a:off x="7031736" y="1417320"/>
            <a:ext cx="502920" cy="502920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9" name="Bracelet loop 4"/>
          <p:cNvSpPr/>
          <p:nvPr/>
        </p:nvSpPr>
        <p:spPr>
          <a:xfrm>
            <a:off x="7415784" y="1417320"/>
            <a:ext cx="502920" cy="502920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10" name="Bracelet loop 5"/>
          <p:cNvSpPr/>
          <p:nvPr/>
        </p:nvSpPr>
        <p:spPr>
          <a:xfrm>
            <a:off x="7799832" y="1417320"/>
            <a:ext cx="502920" cy="502920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11" name="Bracelet loop 6"/>
          <p:cNvSpPr/>
          <p:nvPr/>
        </p:nvSpPr>
        <p:spPr>
          <a:xfrm>
            <a:off x="8183880" y="1417320"/>
            <a:ext cx="502920" cy="502920"/>
          </a:xfrm>
          <a:prstGeom prst="ellipse">
            <a:avLst/>
          </a:prstGeom>
          <a:ln w="38100">
            <a:solidFill>
              <a:schemeClr val="accent2"/>
            </a:solidFill>
            <a:prstDash val="solid"/>
          </a:ln>
        </p:spPr>
      </p:sp>
      <p:sp>
        <p:nvSpPr>
          <p:cNvPr id="12" name="Locket"/>
          <p:cNvSpPr/>
          <p:nvPr/>
        </p:nvSpPr>
        <p:spPr>
          <a:xfrm>
            <a:off x="7086600" y="2103120"/>
            <a:ext cx="1280160" cy="1143000"/>
          </a:xfrm>
          <a:prstGeom prst="hear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Pink note"/>
          <p:cNvSpPr/>
          <p:nvPr/>
        </p:nvSpPr>
        <p:spPr>
          <a:xfrm rot="-180000">
            <a:off x="6400800" y="34290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ote text"/>
          <p:cNvSpPr txBox="1"/>
          <p:nvPr/>
        </p:nvSpPr>
        <p:spPr>
          <a:xfrm rot="-180000">
            <a:off x="6400800" y="342900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“Worth Loving”</a:t>
            </a:r>
            <a:endParaRPr lang="en-US" sz="2200" dirty="0"/>
          </a:p>
        </p:txBody>
      </p:sp>
      <p:sp>
        <p:nvSpPr>
          <p:cNvPr id="15" name="Note caption"/>
          <p:cNvSpPr txBox="1"/>
          <p:nvPr/>
        </p:nvSpPr>
        <p:spPr>
          <a:xfrm>
            <a:off x="6400800" y="4206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…but is it really?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A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GENRE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it a short story?</a:t>
            </a:r>
            <a:endParaRPr lang="en-US" sz="3400" dirty="0"/>
          </a:p>
        </p:txBody>
      </p:sp>
      <p:sp>
        <p:nvSpPr>
          <p:cNvPr id="4" name="Chain loop 1"/>
          <p:cNvSpPr/>
          <p:nvPr/>
        </p:nvSpPr>
        <p:spPr>
          <a:xfrm>
            <a:off x="7452360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5" name="Chain loop 2"/>
          <p:cNvSpPr/>
          <p:nvPr/>
        </p:nvSpPr>
        <p:spPr>
          <a:xfrm>
            <a:off x="7699248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6" name="Chain loop 3"/>
          <p:cNvSpPr/>
          <p:nvPr/>
        </p:nvSpPr>
        <p:spPr>
          <a:xfrm>
            <a:off x="7946136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7" name="Chain loop 4"/>
          <p:cNvSpPr/>
          <p:nvPr/>
        </p:nvSpPr>
        <p:spPr>
          <a:xfrm>
            <a:off x="8193024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8" name="Heart locket"/>
          <p:cNvSpPr/>
          <p:nvPr/>
        </p:nvSpPr>
        <p:spPr>
          <a:xfrm>
            <a:off x="7909560" y="786384"/>
            <a:ext cx="310896" cy="292608"/>
          </a:xfrm>
          <a:prstGeom prst="hear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eature card 1"/>
          <p:cNvSpPr/>
          <p:nvPr/>
        </p:nvSpPr>
        <p:spPr>
          <a:xfrm>
            <a:off x="457200" y="118872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ort length circle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hort length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2" name="Short length header"/>
          <p:cNvSpPr txBox="1"/>
          <p:nvPr/>
        </p:nvSpPr>
        <p:spPr>
          <a:xfrm>
            <a:off x="1234440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Short length</a:t>
            </a:r>
            <a:endParaRPr lang="en-US" sz="1500" dirty="0"/>
          </a:p>
        </p:txBody>
      </p:sp>
      <p:sp>
        <p:nvSpPr>
          <p:cNvPr id="13" name="Short length text"/>
          <p:cNvSpPr txBox="1"/>
          <p:nvPr/>
        </p:nvSpPr>
        <p:spPr>
          <a:xfrm>
            <a:off x="640080" y="19659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Only about 4 pages (pp. 154–157) – readable in one sitting.</a:t>
            </a:r>
            <a:endParaRPr lang="en-US" sz="1300" dirty="0"/>
          </a:p>
        </p:txBody>
      </p:sp>
      <p:sp>
        <p:nvSpPr>
          <p:cNvPr id="14" name="Feature card 2"/>
          <p:cNvSpPr/>
          <p:nvPr/>
        </p:nvSpPr>
        <p:spPr>
          <a:xfrm>
            <a:off x="3264408" y="118872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Few characters circle"/>
          <p:cNvSpPr/>
          <p:nvPr/>
        </p:nvSpPr>
        <p:spPr>
          <a:xfrm>
            <a:off x="3447288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Few charact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018" y="1497330"/>
            <a:ext cx="251460" cy="251460"/>
          </a:xfrm>
          <a:prstGeom prst="rect">
            <a:avLst/>
          </a:prstGeom>
        </p:spPr>
      </p:pic>
      <p:sp>
        <p:nvSpPr>
          <p:cNvPr id="17" name="Few characters header"/>
          <p:cNvSpPr txBox="1"/>
          <p:nvPr/>
        </p:nvSpPr>
        <p:spPr>
          <a:xfrm>
            <a:off x="4041648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Few characters</a:t>
            </a:r>
            <a:endParaRPr lang="en-US" sz="1500" dirty="0"/>
          </a:p>
        </p:txBody>
      </p:sp>
      <p:sp>
        <p:nvSpPr>
          <p:cNvPr id="18" name="Few characters text"/>
          <p:cNvSpPr txBox="1"/>
          <p:nvPr/>
        </p:nvSpPr>
        <p:spPr>
          <a:xfrm>
            <a:off x="3447288" y="19659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Kelly, Trevor, Kat – plus Mom and the twins Will &amp; Josh.</a:t>
            </a:r>
            <a:endParaRPr lang="en-US" sz="1300" dirty="0"/>
          </a:p>
        </p:txBody>
      </p:sp>
      <p:sp>
        <p:nvSpPr>
          <p:cNvPr id="19" name="Feature card 3"/>
          <p:cNvSpPr/>
          <p:nvPr/>
        </p:nvSpPr>
        <p:spPr>
          <a:xfrm>
            <a:off x="6071616" y="118872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One place, short time circle"/>
          <p:cNvSpPr/>
          <p:nvPr/>
        </p:nvSpPr>
        <p:spPr>
          <a:xfrm>
            <a:off x="6254496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One place, short tim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226" y="1497330"/>
            <a:ext cx="251460" cy="251460"/>
          </a:xfrm>
          <a:prstGeom prst="rect">
            <a:avLst/>
          </a:prstGeom>
        </p:spPr>
      </p:pic>
      <p:sp>
        <p:nvSpPr>
          <p:cNvPr id="22" name="One place, short time header"/>
          <p:cNvSpPr txBox="1"/>
          <p:nvPr/>
        </p:nvSpPr>
        <p:spPr>
          <a:xfrm>
            <a:off x="6848856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One place, short time</a:t>
            </a:r>
            <a:endParaRPr lang="en-US" sz="1500" dirty="0"/>
          </a:p>
        </p:txBody>
      </p:sp>
      <p:sp>
        <p:nvSpPr>
          <p:cNvPr id="23" name="One place, short time text"/>
          <p:cNvSpPr txBox="1"/>
          <p:nvPr/>
        </p:nvSpPr>
        <p:spPr>
          <a:xfrm>
            <a:off x="6254496" y="19659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Kelly’s house, one afternoon: her 16th birthday.</a:t>
            </a:r>
            <a:endParaRPr lang="en-US" sz="1300" dirty="0"/>
          </a:p>
        </p:txBody>
      </p:sp>
      <p:sp>
        <p:nvSpPr>
          <p:cNvPr id="24" name="Feature card 4"/>
          <p:cNvSpPr/>
          <p:nvPr/>
        </p:nvSpPr>
        <p:spPr>
          <a:xfrm>
            <a:off x="457200" y="3081528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Abrupt beginning circle"/>
          <p:cNvSpPr/>
          <p:nvPr/>
        </p:nvSpPr>
        <p:spPr>
          <a:xfrm>
            <a:off x="640080" y="32644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Abrupt beginning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0" y="3390138"/>
            <a:ext cx="251460" cy="251460"/>
          </a:xfrm>
          <a:prstGeom prst="rect">
            <a:avLst/>
          </a:prstGeom>
        </p:spPr>
      </p:pic>
      <p:sp>
        <p:nvSpPr>
          <p:cNvPr id="27" name="Abrupt beginning header"/>
          <p:cNvSpPr txBox="1"/>
          <p:nvPr/>
        </p:nvSpPr>
        <p:spPr>
          <a:xfrm>
            <a:off x="1234440" y="326440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Abrupt beginning</a:t>
            </a:r>
            <a:endParaRPr lang="en-US" sz="1500" dirty="0"/>
          </a:p>
        </p:txBody>
      </p:sp>
      <p:sp>
        <p:nvSpPr>
          <p:cNvPr id="28" name="Abrupt beginning text"/>
          <p:cNvSpPr txBox="1"/>
          <p:nvPr/>
        </p:nvSpPr>
        <p:spPr>
          <a:xfrm>
            <a:off x="640080" y="38587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Starts in medias res: “Trevor never said hello…” – no introduction.</a:t>
            </a:r>
            <a:endParaRPr lang="en-US" sz="1300" dirty="0"/>
          </a:p>
        </p:txBody>
      </p:sp>
      <p:sp>
        <p:nvSpPr>
          <p:cNvPr id="29" name="Feature card 5"/>
          <p:cNvSpPr/>
          <p:nvPr/>
        </p:nvSpPr>
        <p:spPr>
          <a:xfrm>
            <a:off x="3264408" y="3081528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One conflict &amp; turning point circle"/>
          <p:cNvSpPr/>
          <p:nvPr/>
        </p:nvSpPr>
        <p:spPr>
          <a:xfrm>
            <a:off x="3447288" y="32644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One conflict &amp; turning poin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018" y="3390138"/>
            <a:ext cx="251460" cy="251460"/>
          </a:xfrm>
          <a:prstGeom prst="rect">
            <a:avLst/>
          </a:prstGeom>
        </p:spPr>
      </p:pic>
      <p:sp>
        <p:nvSpPr>
          <p:cNvPr id="32" name="One conflict &amp;amp; turning point header"/>
          <p:cNvSpPr txBox="1"/>
          <p:nvPr/>
        </p:nvSpPr>
        <p:spPr>
          <a:xfrm>
            <a:off x="4041648" y="326440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One conflict &amp; turning point</a:t>
            </a:r>
            <a:endParaRPr lang="en-US" sz="1500" dirty="0"/>
          </a:p>
        </p:txBody>
      </p:sp>
      <p:sp>
        <p:nvSpPr>
          <p:cNvPr id="33" name="One conflict &amp;amp; turning point text"/>
          <p:cNvSpPr txBox="1"/>
          <p:nvPr/>
        </p:nvSpPr>
        <p:spPr>
          <a:xfrm>
            <a:off x="3447288" y="38587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Everything centers on the bracelet – until Kat reveals it is stolen.</a:t>
            </a:r>
            <a:endParaRPr lang="en-US" sz="1300" dirty="0"/>
          </a:p>
        </p:txBody>
      </p:sp>
      <p:sp>
        <p:nvSpPr>
          <p:cNvPr id="34" name="Feature card 6"/>
          <p:cNvSpPr/>
          <p:nvPr/>
        </p:nvSpPr>
        <p:spPr>
          <a:xfrm>
            <a:off x="6071616" y="3081528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Open ending circle"/>
          <p:cNvSpPr/>
          <p:nvPr/>
        </p:nvSpPr>
        <p:spPr>
          <a:xfrm>
            <a:off x="6254496" y="326440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Open ending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226" y="3390138"/>
            <a:ext cx="251460" cy="251460"/>
          </a:xfrm>
          <a:prstGeom prst="rect">
            <a:avLst/>
          </a:prstGeom>
        </p:spPr>
      </p:pic>
      <p:sp>
        <p:nvSpPr>
          <p:cNvPr id="37" name="Open ending header"/>
          <p:cNvSpPr txBox="1"/>
          <p:nvPr/>
        </p:nvSpPr>
        <p:spPr>
          <a:xfrm>
            <a:off x="6848856" y="326440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Open ending</a:t>
            </a:r>
            <a:endParaRPr lang="en-US" sz="1500" dirty="0"/>
          </a:p>
        </p:txBody>
      </p:sp>
      <p:sp>
        <p:nvSpPr>
          <p:cNvPr id="38" name="Open ending text"/>
          <p:cNvSpPr txBox="1"/>
          <p:nvPr/>
        </p:nvSpPr>
        <p:spPr>
          <a:xfrm>
            <a:off x="6254496" y="38587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“It’s yours.” – what happens with Trevor stays unclear.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A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NARRATIVE PERSPECTIVE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the perspective</a:t>
            </a:r>
            <a:endParaRPr lang="en-US" sz="3400" dirty="0"/>
          </a:p>
        </p:txBody>
      </p:sp>
      <p:sp>
        <p:nvSpPr>
          <p:cNvPr id="4" name="Chain loop 1"/>
          <p:cNvSpPr/>
          <p:nvPr/>
        </p:nvSpPr>
        <p:spPr>
          <a:xfrm>
            <a:off x="7452360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5" name="Chain loop 2"/>
          <p:cNvSpPr/>
          <p:nvPr/>
        </p:nvSpPr>
        <p:spPr>
          <a:xfrm>
            <a:off x="7699248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6" name="Chain loop 3"/>
          <p:cNvSpPr/>
          <p:nvPr/>
        </p:nvSpPr>
        <p:spPr>
          <a:xfrm>
            <a:off x="7946136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7" name="Chain loop 4"/>
          <p:cNvSpPr/>
          <p:nvPr/>
        </p:nvSpPr>
        <p:spPr>
          <a:xfrm>
            <a:off x="8193024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8" name="Heart locket"/>
          <p:cNvSpPr/>
          <p:nvPr/>
        </p:nvSpPr>
        <p:spPr>
          <a:xfrm>
            <a:off x="7909560" y="786384"/>
            <a:ext cx="310896" cy="292608"/>
          </a:xfrm>
          <a:prstGeom prst="hear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loseness &amp; identification circle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Closeness &amp; identifica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274320" cy="274320"/>
          </a:xfrm>
          <a:prstGeom prst="rect">
            <a:avLst/>
          </a:prstGeom>
        </p:spPr>
      </p:pic>
      <p:sp>
        <p:nvSpPr>
          <p:cNvPr id="11" name="Closeness &amp;amp; identification header"/>
          <p:cNvSpPr txBox="1"/>
          <p:nvPr/>
        </p:nvSpPr>
        <p:spPr>
          <a:xfrm>
            <a:off x="1188720" y="11887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Closeness &amp; identification</a:t>
            </a:r>
            <a:endParaRPr lang="en-US" sz="1500" dirty="0"/>
          </a:p>
        </p:txBody>
      </p:sp>
      <p:sp>
        <p:nvSpPr>
          <p:cNvPr id="12" name="Closeness &amp;amp; identification text"/>
          <p:cNvSpPr txBox="1"/>
          <p:nvPr/>
        </p:nvSpPr>
        <p:spPr>
          <a:xfrm>
            <a:off x="1188720" y="1508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We share Kelly’s thoughts and feelings (“the blush that warmed my face”).</a:t>
            </a:r>
            <a:endParaRPr lang="en-US" sz="1300" dirty="0"/>
          </a:p>
        </p:txBody>
      </p:sp>
      <p:sp>
        <p:nvSpPr>
          <p:cNvPr id="13" name="Suspense through limited knowledge circle"/>
          <p:cNvSpPr/>
          <p:nvPr/>
        </p:nvSpPr>
        <p:spPr>
          <a:xfrm>
            <a:off x="457200" y="21305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Suspense through limited knowledg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67712"/>
            <a:ext cx="274320" cy="274320"/>
          </a:xfrm>
          <a:prstGeom prst="rect">
            <a:avLst/>
          </a:prstGeom>
        </p:spPr>
      </p:pic>
      <p:sp>
        <p:nvSpPr>
          <p:cNvPr id="15" name="Suspense through limited knowledge header"/>
          <p:cNvSpPr txBox="1"/>
          <p:nvPr/>
        </p:nvSpPr>
        <p:spPr>
          <a:xfrm>
            <a:off x="1188720" y="2084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Suspense through limited knowledge</a:t>
            </a:r>
            <a:endParaRPr lang="en-US" sz="1500" dirty="0"/>
          </a:p>
        </p:txBody>
      </p:sp>
      <p:sp>
        <p:nvSpPr>
          <p:cNvPr id="16" name="Suspense through limited knowledge text"/>
          <p:cNvSpPr txBox="1"/>
          <p:nvPr/>
        </p:nvSpPr>
        <p:spPr>
          <a:xfrm>
            <a:off x="1188720" y="24048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We only know what Kelly knows – we learn the bracelet is stolen together with her.</a:t>
            </a:r>
            <a:endParaRPr lang="en-US" sz="1300" dirty="0"/>
          </a:p>
        </p:txBody>
      </p:sp>
      <p:sp>
        <p:nvSpPr>
          <p:cNvPr id="17" name="Subjective, one-sided view circle"/>
          <p:cNvSpPr/>
          <p:nvPr/>
        </p:nvSpPr>
        <p:spPr>
          <a:xfrm>
            <a:off x="457200" y="302666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Subjective, one-sided view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163824"/>
            <a:ext cx="274320" cy="274320"/>
          </a:xfrm>
          <a:prstGeom prst="rect">
            <a:avLst/>
          </a:prstGeom>
        </p:spPr>
      </p:pic>
      <p:sp>
        <p:nvSpPr>
          <p:cNvPr id="19" name="Subjective, one-sided view header"/>
          <p:cNvSpPr txBox="1"/>
          <p:nvPr/>
        </p:nvSpPr>
        <p:spPr>
          <a:xfrm>
            <a:off x="1188720" y="298094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Subjective, one-sided view</a:t>
            </a:r>
            <a:endParaRPr lang="en-US" sz="1500" dirty="0"/>
          </a:p>
        </p:txBody>
      </p:sp>
      <p:sp>
        <p:nvSpPr>
          <p:cNvPr id="20" name="Subjective, one-sided view text"/>
          <p:cNvSpPr txBox="1"/>
          <p:nvPr/>
        </p:nvSpPr>
        <p:spPr>
          <a:xfrm>
            <a:off x="1188720" y="3300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Trevor is seen only through her eyes: “curls that never looked combed.”</a:t>
            </a:r>
            <a:endParaRPr lang="en-US" sz="1300" dirty="0"/>
          </a:p>
        </p:txBody>
      </p:sp>
      <p:sp>
        <p:nvSpPr>
          <p:cNvPr id="21" name="Inner conflict made visible circle"/>
          <p:cNvSpPr/>
          <p:nvPr/>
        </p:nvSpPr>
        <p:spPr>
          <a:xfrm>
            <a:off x="457200" y="3922776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nner conflict made visibl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059936"/>
            <a:ext cx="274320" cy="274320"/>
          </a:xfrm>
          <a:prstGeom prst="rect">
            <a:avLst/>
          </a:prstGeom>
        </p:spPr>
      </p:pic>
      <p:sp>
        <p:nvSpPr>
          <p:cNvPr id="23" name="Inner conflict made visible header"/>
          <p:cNvSpPr txBox="1"/>
          <p:nvPr/>
        </p:nvSpPr>
        <p:spPr>
          <a:xfrm>
            <a:off x="1188720" y="38770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Inner conflict made visible</a:t>
            </a:r>
            <a:endParaRPr lang="en-US" sz="1500" dirty="0"/>
          </a:p>
        </p:txBody>
      </p:sp>
      <p:sp>
        <p:nvSpPr>
          <p:cNvPr id="24" name="Inner conflict made visible text"/>
          <p:cNvSpPr txBox="1"/>
          <p:nvPr/>
        </p:nvSpPr>
        <p:spPr>
          <a:xfrm>
            <a:off x="1188720" y="41970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Her doubts are shown directly: “I wasn’t sure how I felt about him though.”</a:t>
            </a:r>
            <a:endParaRPr lang="en-US" sz="1300" dirty="0"/>
          </a:p>
        </p:txBody>
      </p:sp>
      <p:sp>
        <p:nvSpPr>
          <p:cNvPr id="25" name="Quote card"/>
          <p:cNvSpPr/>
          <p:nvPr/>
        </p:nvSpPr>
        <p:spPr>
          <a:xfrm>
            <a:off x="5760720" y="1280160"/>
            <a:ext cx="2926080" cy="329184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Quote mark"/>
          <p:cNvSpPr txBox="1"/>
          <p:nvPr/>
        </p:nvSpPr>
        <p:spPr>
          <a:xfrm>
            <a:off x="594360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27" name="Quote"/>
          <p:cNvSpPr txBox="1"/>
          <p:nvPr/>
        </p:nvSpPr>
        <p:spPr>
          <a:xfrm>
            <a:off x="5989320" y="201168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didn’t like Trevor enough to call him ‘Worth Loving.’</a:t>
            </a:r>
            <a:endParaRPr lang="en-US" sz="1800" dirty="0"/>
          </a:p>
        </p:txBody>
      </p:sp>
      <p:sp>
        <p:nvSpPr>
          <p:cNvPr id="28" name="Quote takeaway"/>
          <p:cNvSpPr txBox="1"/>
          <p:nvPr/>
        </p:nvSpPr>
        <p:spPr>
          <a:xfrm>
            <a:off x="5989320" y="3566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The reader judges Trevor and the gift through Kelly’s feelings.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A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NARRATIVE PERSPECTIVE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tells the story?</a:t>
            </a:r>
            <a:endParaRPr lang="en-US" sz="3400" dirty="0"/>
          </a:p>
        </p:txBody>
      </p:sp>
      <p:sp>
        <p:nvSpPr>
          <p:cNvPr id="4" name="Chain loop 1"/>
          <p:cNvSpPr/>
          <p:nvPr/>
        </p:nvSpPr>
        <p:spPr>
          <a:xfrm>
            <a:off x="7452360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5" name="Chain loop 2"/>
          <p:cNvSpPr/>
          <p:nvPr/>
        </p:nvSpPr>
        <p:spPr>
          <a:xfrm>
            <a:off x="7699248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6" name="Chain loop 3"/>
          <p:cNvSpPr/>
          <p:nvPr/>
        </p:nvSpPr>
        <p:spPr>
          <a:xfrm>
            <a:off x="7946136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7" name="Chain loop 4"/>
          <p:cNvSpPr/>
          <p:nvPr/>
        </p:nvSpPr>
        <p:spPr>
          <a:xfrm>
            <a:off x="8193024" y="384048"/>
            <a:ext cx="365760" cy="365760"/>
          </a:xfrm>
          <a:prstGeom prst="ellipse">
            <a:avLst/>
          </a:prstGeom>
          <a:ln w="25400">
            <a:solidFill>
              <a:schemeClr val="accent2"/>
            </a:solidFill>
            <a:prstDash val="solid"/>
          </a:ln>
        </p:spPr>
      </p:sp>
      <p:sp>
        <p:nvSpPr>
          <p:cNvPr id="8" name="Heart locket"/>
          <p:cNvSpPr/>
          <p:nvPr/>
        </p:nvSpPr>
        <p:spPr>
          <a:xfrm>
            <a:off x="7909560" y="786384"/>
            <a:ext cx="310896" cy="292608"/>
          </a:xfrm>
          <a:prstGeom prst="hear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Big I circle"/>
          <p:cNvSpPr/>
          <p:nvPr/>
        </p:nvSpPr>
        <p:spPr>
          <a:xfrm>
            <a:off x="640080" y="132588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ig I"/>
          <p:cNvSpPr txBox="1"/>
          <p:nvPr/>
        </p:nvSpPr>
        <p:spPr>
          <a:xfrm>
            <a:off x="640080" y="13258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“I”</a:t>
            </a:r>
            <a:endParaRPr lang="en-US" sz="8000" dirty="0"/>
          </a:p>
        </p:txBody>
      </p:sp>
      <p:sp>
        <p:nvSpPr>
          <p:cNvPr id="11" name="Big I label"/>
          <p:cNvSpPr txBox="1"/>
          <p:nvPr/>
        </p:nvSpPr>
        <p:spPr>
          <a:xfrm>
            <a:off x="36576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First-person narrator</a:t>
            </a:r>
            <a:endParaRPr lang="en-US" sz="1800" dirty="0"/>
          </a:p>
        </p:txBody>
      </p:sp>
      <p:sp>
        <p:nvSpPr>
          <p:cNvPr id="12" name="Big I caption"/>
          <p:cNvSpPr txBox="1"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Kelly, the 16-year-old protagonist</a:t>
            </a:r>
            <a:endParaRPr lang="en-US" sz="1300" dirty="0"/>
          </a:p>
        </p:txBody>
      </p:sp>
      <p:sp>
        <p:nvSpPr>
          <p:cNvPr id="13" name="Features card"/>
          <p:cNvSpPr/>
          <p:nvPr/>
        </p:nvSpPr>
        <p:spPr>
          <a:xfrm>
            <a:off x="3749040" y="1188720"/>
            <a:ext cx="4937760" cy="35204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Perspective features"/>
          <p:cNvSpPr txBox="1"/>
          <p:nvPr/>
        </p:nvSpPr>
        <p:spPr>
          <a:xfrm>
            <a:off x="3977640" y="1325880"/>
            <a:ext cx="4480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Participating narrator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Kelly tells her own story and takes part in the action.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Limited point of view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Only her thoughts are known; Trevor and Kat are shown through dialogue and actions.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Past tense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“I opened my palm to reveal a silver charm bracelet.”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Inner thoughts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“I imagined a sales clerk…” / “Come to think of it, I didn’t really like Kat all that much.”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A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lver and Pink">
  <a:themeElements>
    <a:clrScheme name="Silver and Pink">
      <a:dk1>
        <a:srgbClr val="1E1A24"/>
      </a:dk1>
      <a:lt1>
        <a:srgbClr val="FFFFFF"/>
      </a:lt1>
      <a:dk2>
        <a:srgbClr val="2F2A37"/>
      </a:dk2>
      <a:lt2>
        <a:srgbClr val="C9CCD3"/>
      </a:lt2>
      <a:accent1>
        <a:srgbClr val="FF4F9A"/>
      </a:accent1>
      <a:accent2>
        <a:srgbClr val="C9CCD3"/>
      </a:accent2>
      <a:accent3>
        <a:srgbClr val="7FD6CB"/>
      </a:accent3>
      <a:accent4>
        <a:srgbClr val="B79CFF"/>
      </a:accent4>
      <a:accent5>
        <a:srgbClr val="FFB3D1"/>
      </a:accent5>
      <a:accent6>
        <a:srgbClr val="8E8A96"/>
      </a:accent6>
      <a:hlink>
        <a:srgbClr val="FF4F9A"/>
      </a:hlink>
      <a:folHlink>
        <a:srgbClr val="B79CFF"/>
      </a:folHlink>
    </a:clrScheme>
    <a:fontScheme name="Silver and Pi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Bracelet – Ann Angel</dc:title>
  <dc:subject>PptxGenJS Presentation</dc:subject>
  <dc:creator>PptxGenJS</dc:creator>
  <cp:lastModifiedBy>PptxGenJS</cp:lastModifiedBy>
  <cp:revision>1</cp:revision>
  <dcterms:created xsi:type="dcterms:W3CDTF">2026-10-12T07:02:05Z</dcterms:created>
  <dcterms:modified xsi:type="dcterms:W3CDTF">2026-10-12T07:02:05Z</dcterms:modified>
</cp:coreProperties>
</file>