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gab's so noch nie in Deutschland. AfD-Politiker ist jetzt Chef von einem Landtag. Keiner weiß genau, wer ihn mitgewählt 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Oktober, Magdeburg, erste Sitzung vom neuen Landtag. Tobias Rausch (AfD) wird Landtagspräsident = Chef vom Parlament, leitet die Sitzungen. Nicht verwechseln mit Ministerpräsident.
[Halbkreis] Wahl am 6.9.: AfD 43,8 %, 39 von 83 Sitzen, Mehrheit wäre 42.
[Rechnung] Rausch bekommt 48 Stimmen. AfD 39 + BSW 5 = 44. Also 4 Stimmen von anderen. Wahl geheim, keiner weiß von wem. CDU hatte eigentlich gesagt: wir enthalten uns.
Problem: Wer hat geholfen, und ist das okay?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Politikzyklus = 5 Schritte, wie Politik ein Problem löst.
1 Problem: Landtag braucht Chef. 2 Agenda: AfD darf vorschlagen → Rausch. 3 Entscheidung: 6.10. Wahl ← hier ist meine Meldung (steht im Plenarprotokoll). 4 Umsetzung: Rausch leitet Sitzungen. 5 Bewertung: Streit.
Davor: Wahl 6.9., AfD stärkste Partei → darf laut Hausordnung vorschlagen. Gewählt werden muss man trotzdem (Verfassung Art. 49).
Danach: Dezember, Siegmund (AfD) will Ministerpräsident werden, 3 Stimmen fehlen → CDU und BSW sind Vetospieler.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 (AfD, BSW): ist üblich, stärkste Partei stellt den Chef. Rausch: will Präsident für den ganzen Landtag sein.
NEIN (Grüne, SPD): AfD Sachsen-Anhalt gilt als gesichert rechtsextrem, so jemand nicht an die Spitze. SPD will wissen, ob CDU-Leute mitgewählt haben.
Wertkonflikt: beide finden andere Sachen wichtig. Einig: Wahl ist frei und geheim.
Maßstab Legitimität: reicht eine Mehrheit oder braucht man Vertrauen von allen?
Offen: wer die 4 waren, kann man nicht beweisen.
Diskussion! Wenn alle Nein: fühlen sich 43,8 % der Wähler dann nicht ernst genommen? Wenn alle Ja: der Präsident entscheidet, wer reden darf – will man das bei so einer Partei?
Am Schluss: meine Meinung.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Primärquelle vorher prüfen: Seitenzahl + Zitat aus dem Plenarprotokoll eintragen. Eigene Prompts einfügen.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41B2D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400"/>
                </a:solidFill>
              </a:rPr>
              <a:t>NEWSFLASH · SOZIALKUNDE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Erster AfD-Landtagschef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FDB"/>
                </a:solidFill>
              </a:rPr>
              <a:t>Sachsen-Anhalt · 6. Oktober 2026</a:t>
            </a:r>
            <a:endParaRPr lang="en-US" sz="1800" dirty="0"/>
          </a:p>
        </p:txBody>
      </p:sp>
      <p:sp>
        <p:nvSpPr>
          <p:cNvPr id="5" name="!!seat0"/>
          <p:cNvSpPr/>
          <p:nvPr/>
        </p:nvSpPr>
        <p:spPr>
          <a:xfrm>
            <a:off x="5394503" y="4772711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6" name="!!seat1"/>
          <p:cNvSpPr/>
          <p:nvPr/>
        </p:nvSpPr>
        <p:spPr>
          <a:xfrm>
            <a:off x="5163160" y="4772711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7" name="!!seat2"/>
          <p:cNvSpPr/>
          <p:nvPr/>
        </p:nvSpPr>
        <p:spPr>
          <a:xfrm>
            <a:off x="4931816" y="4772711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8" name="!!seat3"/>
          <p:cNvSpPr/>
          <p:nvPr/>
        </p:nvSpPr>
        <p:spPr>
          <a:xfrm>
            <a:off x="4700473" y="4772711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9" name="!!seat4"/>
          <p:cNvSpPr/>
          <p:nvPr/>
        </p:nvSpPr>
        <p:spPr>
          <a:xfrm>
            <a:off x="4469130" y="4772711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0" name="!!seat5"/>
          <p:cNvSpPr/>
          <p:nvPr/>
        </p:nvSpPr>
        <p:spPr>
          <a:xfrm>
            <a:off x="4237787" y="4772711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1" name="!!seat6"/>
          <p:cNvSpPr/>
          <p:nvPr/>
        </p:nvSpPr>
        <p:spPr>
          <a:xfrm>
            <a:off x="4265036" y="4443857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2" name="!!seat7"/>
          <p:cNvSpPr/>
          <p:nvPr/>
        </p:nvSpPr>
        <p:spPr>
          <a:xfrm>
            <a:off x="4503075" y="4428060"/>
            <a:ext cx="147218" cy="147218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3" name="!!seat8"/>
          <p:cNvSpPr/>
          <p:nvPr/>
        </p:nvSpPr>
        <p:spPr>
          <a:xfrm>
            <a:off x="4738966" y="4431079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4" name="!!seat9"/>
          <p:cNvSpPr/>
          <p:nvPr/>
        </p:nvSpPr>
        <p:spPr>
          <a:xfrm>
            <a:off x="4976247" y="4435228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5" name="!!seat10"/>
          <p:cNvSpPr/>
          <p:nvPr/>
        </p:nvSpPr>
        <p:spPr>
          <a:xfrm>
            <a:off x="4346042" y="4123973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6" name="!!seat11"/>
          <p:cNvSpPr/>
          <p:nvPr/>
        </p:nvSpPr>
        <p:spPr>
          <a:xfrm>
            <a:off x="5227845" y="4405863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7" name="!!seat12"/>
          <p:cNvSpPr/>
          <p:nvPr/>
        </p:nvSpPr>
        <p:spPr>
          <a:xfrm>
            <a:off x="4603606" y="4096654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8" name="!!seat13"/>
          <p:cNvSpPr/>
          <p:nvPr/>
        </p:nvSpPr>
        <p:spPr>
          <a:xfrm>
            <a:off x="5477813" y="4407707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9" name="!!seat14"/>
          <p:cNvSpPr/>
          <p:nvPr/>
        </p:nvSpPr>
        <p:spPr>
          <a:xfrm>
            <a:off x="4852513" y="4106579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20" name="!!seat15"/>
          <p:cNvSpPr/>
          <p:nvPr/>
        </p:nvSpPr>
        <p:spPr>
          <a:xfrm>
            <a:off x="4478594" y="3821785"/>
            <a:ext cx="147218" cy="147218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21" name="!!seat16"/>
          <p:cNvSpPr/>
          <p:nvPr/>
        </p:nvSpPr>
        <p:spPr>
          <a:xfrm>
            <a:off x="5106510" y="4120744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2" name="!!seat17"/>
          <p:cNvSpPr/>
          <p:nvPr/>
        </p:nvSpPr>
        <p:spPr>
          <a:xfrm>
            <a:off x="4766859" y="3791229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3" name="!!seat18"/>
          <p:cNvSpPr/>
          <p:nvPr/>
        </p:nvSpPr>
        <p:spPr>
          <a:xfrm>
            <a:off x="4659076" y="3545536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4" name="!!seat19"/>
          <p:cNvSpPr/>
          <p:nvPr/>
        </p:nvSpPr>
        <p:spPr>
          <a:xfrm>
            <a:off x="5035422" y="3815481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5" name="!!seat20"/>
          <p:cNvSpPr/>
          <p:nvPr/>
        </p:nvSpPr>
        <p:spPr>
          <a:xfrm>
            <a:off x="5414098" y="4083262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6" name="!!seat21"/>
          <p:cNvSpPr/>
          <p:nvPr/>
        </p:nvSpPr>
        <p:spPr>
          <a:xfrm>
            <a:off x="5313730" y="3850690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7" name="!!seat22"/>
          <p:cNvSpPr/>
          <p:nvPr/>
        </p:nvSpPr>
        <p:spPr>
          <a:xfrm>
            <a:off x="4986561" y="3523521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8" name="!!seat23"/>
          <p:cNvSpPr/>
          <p:nvPr/>
        </p:nvSpPr>
        <p:spPr>
          <a:xfrm>
            <a:off x="4882567" y="3302761"/>
            <a:ext cx="147218" cy="147218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9" name="!!seat24"/>
          <p:cNvSpPr/>
          <p:nvPr/>
        </p:nvSpPr>
        <p:spPr>
          <a:xfrm>
            <a:off x="5711241" y="4114997"/>
            <a:ext cx="147218" cy="147218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0" name="!!seat25"/>
          <p:cNvSpPr/>
          <p:nvPr/>
        </p:nvSpPr>
        <p:spPr>
          <a:xfrm>
            <a:off x="5278521" y="3572382"/>
            <a:ext cx="147218" cy="147218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1" name="!!seat26"/>
          <p:cNvSpPr/>
          <p:nvPr/>
        </p:nvSpPr>
        <p:spPr>
          <a:xfrm>
            <a:off x="5254269" y="3303819"/>
            <a:ext cx="147218" cy="147218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2" name="!!seat27"/>
          <p:cNvSpPr/>
          <p:nvPr/>
        </p:nvSpPr>
        <p:spPr>
          <a:xfrm>
            <a:off x="5142968" y="3100082"/>
            <a:ext cx="147218" cy="147218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3" name="!!seat28"/>
          <p:cNvSpPr/>
          <p:nvPr/>
        </p:nvSpPr>
        <p:spPr>
          <a:xfrm>
            <a:off x="5699455" y="3843820"/>
            <a:ext cx="147218" cy="147218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4" name="!!seat29"/>
          <p:cNvSpPr/>
          <p:nvPr/>
        </p:nvSpPr>
        <p:spPr>
          <a:xfrm>
            <a:off x="5583784" y="3643470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5" name="!!seat30"/>
          <p:cNvSpPr/>
          <p:nvPr/>
        </p:nvSpPr>
        <p:spPr>
          <a:xfrm>
            <a:off x="5569619" y="3389473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6" name="!!seat31"/>
          <p:cNvSpPr/>
          <p:nvPr/>
        </p:nvSpPr>
        <p:spPr>
          <a:xfrm>
            <a:off x="5433178" y="2943029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!!seat32"/>
          <p:cNvSpPr/>
          <p:nvPr/>
        </p:nvSpPr>
        <p:spPr>
          <a:xfrm>
            <a:off x="5559694" y="3140566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!!seat33"/>
          <p:cNvSpPr/>
          <p:nvPr/>
        </p:nvSpPr>
        <p:spPr>
          <a:xfrm>
            <a:off x="5898268" y="3513207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9" name="!!seat34"/>
          <p:cNvSpPr/>
          <p:nvPr/>
        </p:nvSpPr>
        <p:spPr>
          <a:xfrm>
            <a:off x="5745280" y="2835884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0" name="!!seat35"/>
          <p:cNvSpPr/>
          <p:nvPr/>
        </p:nvSpPr>
        <p:spPr>
          <a:xfrm>
            <a:off x="6048556" y="3952555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1" name="!!seat36"/>
          <p:cNvSpPr/>
          <p:nvPr/>
        </p:nvSpPr>
        <p:spPr>
          <a:xfrm>
            <a:off x="5894119" y="3275926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2" name="!!seat37"/>
          <p:cNvSpPr/>
          <p:nvPr/>
        </p:nvSpPr>
        <p:spPr>
          <a:xfrm>
            <a:off x="5891100" y="3040035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3" name="!!seat38"/>
          <p:cNvSpPr/>
          <p:nvPr/>
        </p:nvSpPr>
        <p:spPr>
          <a:xfrm>
            <a:off x="6049497" y="3716415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4" name="!!seat39"/>
          <p:cNvSpPr/>
          <p:nvPr/>
        </p:nvSpPr>
        <p:spPr>
          <a:xfrm>
            <a:off x="6070760" y="2781571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5" name="!!seat40"/>
          <p:cNvSpPr/>
          <p:nvPr/>
        </p:nvSpPr>
        <p:spPr>
          <a:xfrm>
            <a:off x="6235751" y="3468776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6" name="!!seat41"/>
          <p:cNvSpPr/>
          <p:nvPr/>
        </p:nvSpPr>
        <p:spPr>
          <a:xfrm>
            <a:off x="6235751" y="3237433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7" name="!!seat42"/>
          <p:cNvSpPr/>
          <p:nvPr/>
        </p:nvSpPr>
        <p:spPr>
          <a:xfrm>
            <a:off x="6235751" y="3006090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8" name="!!seat43"/>
          <p:cNvSpPr/>
          <p:nvPr/>
        </p:nvSpPr>
        <p:spPr>
          <a:xfrm>
            <a:off x="6400741" y="2781571"/>
            <a:ext cx="147218" cy="14721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9" name="!!seat44"/>
          <p:cNvSpPr/>
          <p:nvPr/>
        </p:nvSpPr>
        <p:spPr>
          <a:xfrm>
            <a:off x="6422004" y="3716415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0" name="!!seat45"/>
          <p:cNvSpPr/>
          <p:nvPr/>
        </p:nvSpPr>
        <p:spPr>
          <a:xfrm>
            <a:off x="6580401" y="3040035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1" name="!!seat46"/>
          <p:cNvSpPr/>
          <p:nvPr/>
        </p:nvSpPr>
        <p:spPr>
          <a:xfrm>
            <a:off x="6422946" y="3952555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2" name="!!seat47"/>
          <p:cNvSpPr/>
          <p:nvPr/>
        </p:nvSpPr>
        <p:spPr>
          <a:xfrm>
            <a:off x="6577382" y="3275926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3" name="!!seat48"/>
          <p:cNvSpPr/>
          <p:nvPr/>
        </p:nvSpPr>
        <p:spPr>
          <a:xfrm>
            <a:off x="6726222" y="2835884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4" name="!!seat49"/>
          <p:cNvSpPr/>
          <p:nvPr/>
        </p:nvSpPr>
        <p:spPr>
          <a:xfrm>
            <a:off x="6573234" y="3513207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5" name="!!seat50"/>
          <p:cNvSpPr/>
          <p:nvPr/>
        </p:nvSpPr>
        <p:spPr>
          <a:xfrm>
            <a:off x="6911807" y="3140566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6" name="!!seat51"/>
          <p:cNvSpPr/>
          <p:nvPr/>
        </p:nvSpPr>
        <p:spPr>
          <a:xfrm>
            <a:off x="7038324" y="2943029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7" name="!!seat52"/>
          <p:cNvSpPr/>
          <p:nvPr/>
        </p:nvSpPr>
        <p:spPr>
          <a:xfrm>
            <a:off x="6901883" y="3389473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8" name="!!seat53"/>
          <p:cNvSpPr/>
          <p:nvPr/>
        </p:nvSpPr>
        <p:spPr>
          <a:xfrm>
            <a:off x="6772046" y="3843820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9" name="!!seat54"/>
          <p:cNvSpPr/>
          <p:nvPr/>
        </p:nvSpPr>
        <p:spPr>
          <a:xfrm>
            <a:off x="6887718" y="3643470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0" name="!!seat55"/>
          <p:cNvSpPr/>
          <p:nvPr/>
        </p:nvSpPr>
        <p:spPr>
          <a:xfrm>
            <a:off x="7328534" y="3100082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1" name="!!seat56"/>
          <p:cNvSpPr/>
          <p:nvPr/>
        </p:nvSpPr>
        <p:spPr>
          <a:xfrm>
            <a:off x="7217233" y="3303819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2" name="!!seat57"/>
          <p:cNvSpPr/>
          <p:nvPr/>
        </p:nvSpPr>
        <p:spPr>
          <a:xfrm>
            <a:off x="6760260" y="4114997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3" name="!!seat58"/>
          <p:cNvSpPr/>
          <p:nvPr/>
        </p:nvSpPr>
        <p:spPr>
          <a:xfrm>
            <a:off x="7192981" y="3572382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4" name="!!seat59"/>
          <p:cNvSpPr/>
          <p:nvPr/>
        </p:nvSpPr>
        <p:spPr>
          <a:xfrm>
            <a:off x="7588935" y="330276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5" name="!!seat60"/>
          <p:cNvSpPr/>
          <p:nvPr/>
        </p:nvSpPr>
        <p:spPr>
          <a:xfrm>
            <a:off x="7157772" y="3850690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6" name="!!seat61"/>
          <p:cNvSpPr/>
          <p:nvPr/>
        </p:nvSpPr>
        <p:spPr>
          <a:xfrm>
            <a:off x="7484940" y="352352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7" name="!!seat62"/>
          <p:cNvSpPr/>
          <p:nvPr/>
        </p:nvSpPr>
        <p:spPr>
          <a:xfrm>
            <a:off x="7057403" y="4083262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8" name="!!seat63"/>
          <p:cNvSpPr/>
          <p:nvPr/>
        </p:nvSpPr>
        <p:spPr>
          <a:xfrm>
            <a:off x="7436079" y="381548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9" name="!!seat64"/>
          <p:cNvSpPr/>
          <p:nvPr/>
        </p:nvSpPr>
        <p:spPr>
          <a:xfrm>
            <a:off x="7812425" y="3545536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0" name="!!seat65"/>
          <p:cNvSpPr/>
          <p:nvPr/>
        </p:nvSpPr>
        <p:spPr>
          <a:xfrm>
            <a:off x="7704642" y="3791229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1" name="!!seat66"/>
          <p:cNvSpPr/>
          <p:nvPr/>
        </p:nvSpPr>
        <p:spPr>
          <a:xfrm>
            <a:off x="7364991" y="4120744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2" name="!!seat67"/>
          <p:cNvSpPr/>
          <p:nvPr/>
        </p:nvSpPr>
        <p:spPr>
          <a:xfrm>
            <a:off x="7992908" y="3821785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3" name="!!seat68"/>
          <p:cNvSpPr/>
          <p:nvPr/>
        </p:nvSpPr>
        <p:spPr>
          <a:xfrm>
            <a:off x="6993689" y="4407707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4" name="!!seat69"/>
          <p:cNvSpPr/>
          <p:nvPr/>
        </p:nvSpPr>
        <p:spPr>
          <a:xfrm>
            <a:off x="7618988" y="4106579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5" name="!!seat70"/>
          <p:cNvSpPr/>
          <p:nvPr/>
        </p:nvSpPr>
        <p:spPr>
          <a:xfrm>
            <a:off x="7867896" y="4096654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6" name="!!seat71"/>
          <p:cNvSpPr/>
          <p:nvPr/>
        </p:nvSpPr>
        <p:spPr>
          <a:xfrm>
            <a:off x="7243657" y="4405863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7" name="!!seat72"/>
          <p:cNvSpPr/>
          <p:nvPr/>
        </p:nvSpPr>
        <p:spPr>
          <a:xfrm>
            <a:off x="8125460" y="4123973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8" name="!!seat73"/>
          <p:cNvSpPr/>
          <p:nvPr/>
        </p:nvSpPr>
        <p:spPr>
          <a:xfrm>
            <a:off x="7495255" y="4435228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9" name="!!seat74"/>
          <p:cNvSpPr/>
          <p:nvPr/>
        </p:nvSpPr>
        <p:spPr>
          <a:xfrm>
            <a:off x="7732536" y="4431079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0" name="!!seat75"/>
          <p:cNvSpPr/>
          <p:nvPr/>
        </p:nvSpPr>
        <p:spPr>
          <a:xfrm>
            <a:off x="7968426" y="4428060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1" name="!!seat76"/>
          <p:cNvSpPr/>
          <p:nvPr/>
        </p:nvSpPr>
        <p:spPr>
          <a:xfrm>
            <a:off x="8206465" y="4443857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2" name="!!seat77"/>
          <p:cNvSpPr/>
          <p:nvPr/>
        </p:nvSpPr>
        <p:spPr>
          <a:xfrm>
            <a:off x="7076999" y="477271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3" name="!!seat78"/>
          <p:cNvSpPr/>
          <p:nvPr/>
        </p:nvSpPr>
        <p:spPr>
          <a:xfrm>
            <a:off x="7308342" y="477271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4" name="!!seat79"/>
          <p:cNvSpPr/>
          <p:nvPr/>
        </p:nvSpPr>
        <p:spPr>
          <a:xfrm>
            <a:off x="7539685" y="477271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5" name="!!seat80"/>
          <p:cNvSpPr/>
          <p:nvPr/>
        </p:nvSpPr>
        <p:spPr>
          <a:xfrm>
            <a:off x="7771028" y="477271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6" name="!!seat81"/>
          <p:cNvSpPr/>
          <p:nvPr/>
        </p:nvSpPr>
        <p:spPr>
          <a:xfrm>
            <a:off x="8002372" y="477271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7" name="!!seat82"/>
          <p:cNvSpPr/>
          <p:nvPr/>
        </p:nvSpPr>
        <p:spPr>
          <a:xfrm>
            <a:off x="8233715" y="4772711"/>
            <a:ext cx="147218" cy="147218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8" name="!!accent"/>
          <p:cNvSpPr/>
          <p:nvPr/>
        </p:nvSpPr>
        <p:spPr>
          <a:xfrm>
            <a:off x="6080760" y="4434840"/>
            <a:ext cx="457200" cy="457200"/>
          </a:xfrm>
          <a:prstGeom prst="ellipse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263D"/>
                </a:solidFill>
              </a:rPr>
              <a:t>1 · DIE MELDUNG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B2D"/>
                </a:solidFill>
              </a:rPr>
              <a:t>Rausch wird Landtagspräsident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3A6"/>
                </a:solidFill>
              </a:rPr>
              <a:t>Tobias Rausch (AfD) · 6. Oktober 2026 · Magdeburg</a:t>
            </a:r>
            <a:endParaRPr lang="en-US" sz="1800" dirty="0"/>
          </a:p>
        </p:txBody>
      </p:sp>
      <p:sp>
        <p:nvSpPr>
          <p:cNvPr id="5" name="!!seat0"/>
          <p:cNvSpPr/>
          <p:nvPr/>
        </p:nvSpPr>
        <p:spPr>
          <a:xfrm>
            <a:off x="1371234" y="4101633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6" name="!!seat1"/>
          <p:cNvSpPr/>
          <p:nvPr/>
        </p:nvSpPr>
        <p:spPr>
          <a:xfrm>
            <a:off x="1186160" y="4101633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7" name="!!seat2"/>
          <p:cNvSpPr/>
          <p:nvPr/>
        </p:nvSpPr>
        <p:spPr>
          <a:xfrm>
            <a:off x="1001085" y="4101633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8" name="!!seat3"/>
          <p:cNvSpPr/>
          <p:nvPr/>
        </p:nvSpPr>
        <p:spPr>
          <a:xfrm>
            <a:off x="816011" y="4101633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9" name="!!seat4"/>
          <p:cNvSpPr/>
          <p:nvPr/>
        </p:nvSpPr>
        <p:spPr>
          <a:xfrm>
            <a:off x="630936" y="4101633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0" name="!!seat5"/>
          <p:cNvSpPr/>
          <p:nvPr/>
        </p:nvSpPr>
        <p:spPr>
          <a:xfrm>
            <a:off x="445861" y="4101633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1" name="!!seat6"/>
          <p:cNvSpPr/>
          <p:nvPr/>
        </p:nvSpPr>
        <p:spPr>
          <a:xfrm>
            <a:off x="467661" y="3838549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2" name="!!seat7"/>
          <p:cNvSpPr/>
          <p:nvPr/>
        </p:nvSpPr>
        <p:spPr>
          <a:xfrm>
            <a:off x="658092" y="3825912"/>
            <a:ext cx="117775" cy="117775"/>
          </a:xfrm>
          <a:prstGeom prst="ellipse">
            <a:avLst/>
          </a:prstGeom>
          <a:solidFill>
            <a:srgbClr val="BE3075"/>
          </a:solidFill>
          <a:ln w="12700">
            <a:solidFill>
              <a:srgbClr val="BE3075"/>
            </a:solidFill>
            <a:prstDash val="solid"/>
          </a:ln>
        </p:spPr>
      </p:sp>
      <p:sp>
        <p:nvSpPr>
          <p:cNvPr id="13" name="!!seat8"/>
          <p:cNvSpPr/>
          <p:nvPr/>
        </p:nvSpPr>
        <p:spPr>
          <a:xfrm>
            <a:off x="846805" y="3828328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4" name="!!seat9"/>
          <p:cNvSpPr/>
          <p:nvPr/>
        </p:nvSpPr>
        <p:spPr>
          <a:xfrm>
            <a:off x="1036630" y="3831646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5" name="!!seat10"/>
          <p:cNvSpPr/>
          <p:nvPr/>
        </p:nvSpPr>
        <p:spPr>
          <a:xfrm>
            <a:off x="532466" y="3582642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6" name="!!seat11"/>
          <p:cNvSpPr/>
          <p:nvPr/>
        </p:nvSpPr>
        <p:spPr>
          <a:xfrm>
            <a:off x="1237908" y="3808154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7" name="!!seat12"/>
          <p:cNvSpPr/>
          <p:nvPr/>
        </p:nvSpPr>
        <p:spPr>
          <a:xfrm>
            <a:off x="738517" y="3560787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8" name="!!seat13"/>
          <p:cNvSpPr/>
          <p:nvPr/>
        </p:nvSpPr>
        <p:spPr>
          <a:xfrm>
            <a:off x="1437882" y="3809630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19" name="!!seat14"/>
          <p:cNvSpPr/>
          <p:nvPr/>
        </p:nvSpPr>
        <p:spPr>
          <a:xfrm>
            <a:off x="937643" y="3568727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20" name="!!seat15"/>
          <p:cNvSpPr/>
          <p:nvPr/>
        </p:nvSpPr>
        <p:spPr>
          <a:xfrm>
            <a:off x="638507" y="3340892"/>
            <a:ext cx="117775" cy="117775"/>
          </a:xfrm>
          <a:prstGeom prst="ellipse">
            <a:avLst/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21" name="!!seat16"/>
          <p:cNvSpPr/>
          <p:nvPr/>
        </p:nvSpPr>
        <p:spPr>
          <a:xfrm>
            <a:off x="1140840" y="3580059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2" name="!!seat17"/>
          <p:cNvSpPr/>
          <p:nvPr/>
        </p:nvSpPr>
        <p:spPr>
          <a:xfrm>
            <a:off x="869119" y="3316447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3" name="!!seat18"/>
          <p:cNvSpPr/>
          <p:nvPr/>
        </p:nvSpPr>
        <p:spPr>
          <a:xfrm>
            <a:off x="782893" y="3119893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4" name="!!seat19"/>
          <p:cNvSpPr/>
          <p:nvPr/>
        </p:nvSpPr>
        <p:spPr>
          <a:xfrm>
            <a:off x="1083970" y="3335849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5" name="!!seat20"/>
          <p:cNvSpPr/>
          <p:nvPr/>
        </p:nvSpPr>
        <p:spPr>
          <a:xfrm>
            <a:off x="1386911" y="3550074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6" name="!!seat21"/>
          <p:cNvSpPr/>
          <p:nvPr/>
        </p:nvSpPr>
        <p:spPr>
          <a:xfrm>
            <a:off x="1306616" y="3364016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7" name="!!seat22"/>
          <p:cNvSpPr/>
          <p:nvPr/>
        </p:nvSpPr>
        <p:spPr>
          <a:xfrm>
            <a:off x="1044881" y="3102281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8" name="!!seat23"/>
          <p:cNvSpPr/>
          <p:nvPr/>
        </p:nvSpPr>
        <p:spPr>
          <a:xfrm>
            <a:off x="961685" y="2925673"/>
            <a:ext cx="117775" cy="117775"/>
          </a:xfrm>
          <a:prstGeom prst="ellipse">
            <a:avLst/>
          </a:prstGeom>
          <a:solidFill>
            <a:srgbClr val="E3000F"/>
          </a:solidFill>
          <a:ln w="12700">
            <a:solidFill>
              <a:srgbClr val="E3000F"/>
            </a:solidFill>
            <a:prstDash val="solid"/>
          </a:ln>
        </p:spPr>
      </p:sp>
      <p:sp>
        <p:nvSpPr>
          <p:cNvPr id="29" name="!!seat24"/>
          <p:cNvSpPr/>
          <p:nvPr/>
        </p:nvSpPr>
        <p:spPr>
          <a:xfrm>
            <a:off x="1624625" y="3575461"/>
            <a:ext cx="117775" cy="117775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0" name="!!seat25"/>
          <p:cNvSpPr/>
          <p:nvPr/>
        </p:nvSpPr>
        <p:spPr>
          <a:xfrm>
            <a:off x="1278449" y="3141370"/>
            <a:ext cx="117775" cy="117775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1" name="!!seat26"/>
          <p:cNvSpPr/>
          <p:nvPr/>
        </p:nvSpPr>
        <p:spPr>
          <a:xfrm>
            <a:off x="1259047" y="2926519"/>
            <a:ext cx="117775" cy="117775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2" name="!!seat27"/>
          <p:cNvSpPr/>
          <p:nvPr/>
        </p:nvSpPr>
        <p:spPr>
          <a:xfrm>
            <a:off x="1170006" y="2763530"/>
            <a:ext cx="117775" cy="117775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3" name="!!seat28"/>
          <p:cNvSpPr/>
          <p:nvPr/>
        </p:nvSpPr>
        <p:spPr>
          <a:xfrm>
            <a:off x="1615196" y="3358520"/>
            <a:ext cx="117775" cy="117775"/>
          </a:xfrm>
          <a:prstGeom prst="ellipse">
            <a:avLst/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34" name="!!seat29"/>
          <p:cNvSpPr/>
          <p:nvPr/>
        </p:nvSpPr>
        <p:spPr>
          <a:xfrm>
            <a:off x="1522659" y="3198240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5" name="!!seat30"/>
          <p:cNvSpPr/>
          <p:nvPr/>
        </p:nvSpPr>
        <p:spPr>
          <a:xfrm>
            <a:off x="1511327" y="2995043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6" name="!!seat31"/>
          <p:cNvSpPr/>
          <p:nvPr/>
        </p:nvSpPr>
        <p:spPr>
          <a:xfrm>
            <a:off x="1402174" y="2637887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!!seat32"/>
          <p:cNvSpPr/>
          <p:nvPr/>
        </p:nvSpPr>
        <p:spPr>
          <a:xfrm>
            <a:off x="1503387" y="2795917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!!seat33"/>
          <p:cNvSpPr/>
          <p:nvPr/>
        </p:nvSpPr>
        <p:spPr>
          <a:xfrm>
            <a:off x="1774246" y="3094030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9" name="!!seat34"/>
          <p:cNvSpPr/>
          <p:nvPr/>
        </p:nvSpPr>
        <p:spPr>
          <a:xfrm>
            <a:off x="1651856" y="2552171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0" name="!!seat35"/>
          <p:cNvSpPr/>
          <p:nvPr/>
        </p:nvSpPr>
        <p:spPr>
          <a:xfrm>
            <a:off x="1894476" y="3445508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1" name="!!seat36"/>
          <p:cNvSpPr/>
          <p:nvPr/>
        </p:nvSpPr>
        <p:spPr>
          <a:xfrm>
            <a:off x="1770928" y="2904205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2" name="!!seat37"/>
          <p:cNvSpPr/>
          <p:nvPr/>
        </p:nvSpPr>
        <p:spPr>
          <a:xfrm>
            <a:off x="1768512" y="2715492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3" name="!!seat38"/>
          <p:cNvSpPr/>
          <p:nvPr/>
        </p:nvSpPr>
        <p:spPr>
          <a:xfrm>
            <a:off x="1895230" y="3256596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4" name="!!seat39"/>
          <p:cNvSpPr/>
          <p:nvPr/>
        </p:nvSpPr>
        <p:spPr>
          <a:xfrm>
            <a:off x="1912240" y="2508721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5" name="!!seat40"/>
          <p:cNvSpPr/>
          <p:nvPr/>
        </p:nvSpPr>
        <p:spPr>
          <a:xfrm>
            <a:off x="2044233" y="3058485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6" name="!!seat41"/>
          <p:cNvSpPr/>
          <p:nvPr/>
        </p:nvSpPr>
        <p:spPr>
          <a:xfrm>
            <a:off x="2044233" y="2873411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7" name="!!seat42"/>
          <p:cNvSpPr/>
          <p:nvPr/>
        </p:nvSpPr>
        <p:spPr>
          <a:xfrm>
            <a:off x="2044233" y="2688336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8" name="!!seat43"/>
          <p:cNvSpPr/>
          <p:nvPr/>
        </p:nvSpPr>
        <p:spPr>
          <a:xfrm>
            <a:off x="2176225" y="2508721"/>
            <a:ext cx="117775" cy="117775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9" name="!!seat44"/>
          <p:cNvSpPr/>
          <p:nvPr/>
        </p:nvSpPr>
        <p:spPr>
          <a:xfrm>
            <a:off x="2193235" y="3256596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0" name="!!seat45"/>
          <p:cNvSpPr/>
          <p:nvPr/>
        </p:nvSpPr>
        <p:spPr>
          <a:xfrm>
            <a:off x="2319953" y="2715492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1" name="!!seat46"/>
          <p:cNvSpPr/>
          <p:nvPr/>
        </p:nvSpPr>
        <p:spPr>
          <a:xfrm>
            <a:off x="2193989" y="3445508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2" name="!!seat47"/>
          <p:cNvSpPr/>
          <p:nvPr/>
        </p:nvSpPr>
        <p:spPr>
          <a:xfrm>
            <a:off x="2317538" y="2904205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3" name="!!seat48"/>
          <p:cNvSpPr/>
          <p:nvPr/>
        </p:nvSpPr>
        <p:spPr>
          <a:xfrm>
            <a:off x="2436610" y="2552171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4" name="!!seat49"/>
          <p:cNvSpPr/>
          <p:nvPr/>
        </p:nvSpPr>
        <p:spPr>
          <a:xfrm>
            <a:off x="2314219" y="3094030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5" name="!!seat50"/>
          <p:cNvSpPr/>
          <p:nvPr/>
        </p:nvSpPr>
        <p:spPr>
          <a:xfrm>
            <a:off x="2585078" y="2795917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6" name="!!seat51"/>
          <p:cNvSpPr/>
          <p:nvPr/>
        </p:nvSpPr>
        <p:spPr>
          <a:xfrm>
            <a:off x="2686291" y="2637887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7" name="!!seat52"/>
          <p:cNvSpPr/>
          <p:nvPr/>
        </p:nvSpPr>
        <p:spPr>
          <a:xfrm>
            <a:off x="2577138" y="299504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8" name="!!seat53"/>
          <p:cNvSpPr/>
          <p:nvPr/>
        </p:nvSpPr>
        <p:spPr>
          <a:xfrm>
            <a:off x="2473269" y="3358520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9" name="!!seat54"/>
          <p:cNvSpPr/>
          <p:nvPr/>
        </p:nvSpPr>
        <p:spPr>
          <a:xfrm>
            <a:off x="2565806" y="3198240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0" name="!!seat55"/>
          <p:cNvSpPr/>
          <p:nvPr/>
        </p:nvSpPr>
        <p:spPr>
          <a:xfrm>
            <a:off x="2918459" y="2763530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1" name="!!seat56"/>
          <p:cNvSpPr/>
          <p:nvPr/>
        </p:nvSpPr>
        <p:spPr>
          <a:xfrm>
            <a:off x="2829418" y="2926519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2" name="!!seat57"/>
          <p:cNvSpPr/>
          <p:nvPr/>
        </p:nvSpPr>
        <p:spPr>
          <a:xfrm>
            <a:off x="2463840" y="3575461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3" name="!!seat58"/>
          <p:cNvSpPr/>
          <p:nvPr/>
        </p:nvSpPr>
        <p:spPr>
          <a:xfrm>
            <a:off x="2810017" y="3141370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4" name="!!seat59"/>
          <p:cNvSpPr/>
          <p:nvPr/>
        </p:nvSpPr>
        <p:spPr>
          <a:xfrm>
            <a:off x="3126780" y="292567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5" name="!!seat60"/>
          <p:cNvSpPr/>
          <p:nvPr/>
        </p:nvSpPr>
        <p:spPr>
          <a:xfrm>
            <a:off x="2781849" y="3364016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6" name="!!seat61"/>
          <p:cNvSpPr/>
          <p:nvPr/>
        </p:nvSpPr>
        <p:spPr>
          <a:xfrm>
            <a:off x="3043584" y="3102281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7" name="!!seat62"/>
          <p:cNvSpPr/>
          <p:nvPr/>
        </p:nvSpPr>
        <p:spPr>
          <a:xfrm>
            <a:off x="2701555" y="3550074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8" name="!!seat63"/>
          <p:cNvSpPr/>
          <p:nvPr/>
        </p:nvSpPr>
        <p:spPr>
          <a:xfrm>
            <a:off x="3004495" y="3335849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69" name="!!seat64"/>
          <p:cNvSpPr/>
          <p:nvPr/>
        </p:nvSpPr>
        <p:spPr>
          <a:xfrm>
            <a:off x="3305572" y="311989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0" name="!!seat65"/>
          <p:cNvSpPr/>
          <p:nvPr/>
        </p:nvSpPr>
        <p:spPr>
          <a:xfrm>
            <a:off x="3219346" y="3316447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1" name="!!seat66"/>
          <p:cNvSpPr/>
          <p:nvPr/>
        </p:nvSpPr>
        <p:spPr>
          <a:xfrm>
            <a:off x="2947625" y="3580059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2" name="!!seat67"/>
          <p:cNvSpPr/>
          <p:nvPr/>
        </p:nvSpPr>
        <p:spPr>
          <a:xfrm>
            <a:off x="3449958" y="3340892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3" name="!!seat68"/>
          <p:cNvSpPr/>
          <p:nvPr/>
        </p:nvSpPr>
        <p:spPr>
          <a:xfrm>
            <a:off x="2650583" y="3809630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4" name="!!seat69"/>
          <p:cNvSpPr/>
          <p:nvPr/>
        </p:nvSpPr>
        <p:spPr>
          <a:xfrm>
            <a:off x="3150822" y="3568727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5" name="!!seat70"/>
          <p:cNvSpPr/>
          <p:nvPr/>
        </p:nvSpPr>
        <p:spPr>
          <a:xfrm>
            <a:off x="3349948" y="3560787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6" name="!!seat71"/>
          <p:cNvSpPr/>
          <p:nvPr/>
        </p:nvSpPr>
        <p:spPr>
          <a:xfrm>
            <a:off x="2850557" y="3808154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7" name="!!seat72"/>
          <p:cNvSpPr/>
          <p:nvPr/>
        </p:nvSpPr>
        <p:spPr>
          <a:xfrm>
            <a:off x="3556000" y="3582642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8" name="!!seat73"/>
          <p:cNvSpPr/>
          <p:nvPr/>
        </p:nvSpPr>
        <p:spPr>
          <a:xfrm>
            <a:off x="3051836" y="3831646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79" name="!!seat74"/>
          <p:cNvSpPr/>
          <p:nvPr/>
        </p:nvSpPr>
        <p:spPr>
          <a:xfrm>
            <a:off x="3241661" y="3828328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0" name="!!seat75"/>
          <p:cNvSpPr/>
          <p:nvPr/>
        </p:nvSpPr>
        <p:spPr>
          <a:xfrm>
            <a:off x="3430373" y="3825912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1" name="!!seat76"/>
          <p:cNvSpPr/>
          <p:nvPr/>
        </p:nvSpPr>
        <p:spPr>
          <a:xfrm>
            <a:off x="3620804" y="3838549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2" name="!!seat77"/>
          <p:cNvSpPr/>
          <p:nvPr/>
        </p:nvSpPr>
        <p:spPr>
          <a:xfrm>
            <a:off x="2717231" y="410163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3" name="!!seat78"/>
          <p:cNvSpPr/>
          <p:nvPr/>
        </p:nvSpPr>
        <p:spPr>
          <a:xfrm>
            <a:off x="2902306" y="410163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4" name="!!seat79"/>
          <p:cNvSpPr/>
          <p:nvPr/>
        </p:nvSpPr>
        <p:spPr>
          <a:xfrm>
            <a:off x="3087380" y="410163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5" name="!!seat80"/>
          <p:cNvSpPr/>
          <p:nvPr/>
        </p:nvSpPr>
        <p:spPr>
          <a:xfrm>
            <a:off x="3272455" y="410163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6" name="!!seat81"/>
          <p:cNvSpPr/>
          <p:nvPr/>
        </p:nvSpPr>
        <p:spPr>
          <a:xfrm>
            <a:off x="3457529" y="410163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7" name="!!seat82"/>
          <p:cNvSpPr/>
          <p:nvPr/>
        </p:nvSpPr>
        <p:spPr>
          <a:xfrm>
            <a:off x="3642604" y="4101633"/>
            <a:ext cx="117775" cy="117775"/>
          </a:xfrm>
          <a:prstGeom prst="ellipse">
            <a:avLst/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4864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D"/>
                </a:solidFill>
              </a:rPr>
              <a:t>39 von 83 Sitzen</a:t>
            </a:r>
            <a:endParaRPr lang="en-US" sz="1600" dirty="0"/>
          </a:p>
        </p:txBody>
      </p:sp>
      <p:sp>
        <p:nvSpPr>
          <p:cNvPr id="89" name="Block AfD"/>
          <p:cNvSpPr/>
          <p:nvPr/>
        </p:nvSpPr>
        <p:spPr>
          <a:xfrm>
            <a:off x="4206240" y="2331720"/>
            <a:ext cx="868680" cy="731520"/>
          </a:xfrm>
          <a:prstGeom prst="roundRect">
            <a:avLst>
              <a:gd name="adj" fmla="val 15000"/>
            </a:avLst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206240" y="23317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39</a:t>
            </a:r>
            <a:endParaRPr lang="en-US" sz="3000" dirty="0"/>
          </a:p>
        </p:txBody>
      </p:sp>
      <p:sp>
        <p:nvSpPr>
          <p:cNvPr id="91" name="Text 89"/>
          <p:cNvSpPr txBox="1"/>
          <p:nvPr/>
        </p:nvSpPr>
        <p:spPr>
          <a:xfrm>
            <a:off x="4206240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6"/>
                </a:solidFill>
              </a:rPr>
              <a:t>AfD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5120640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93A6"/>
                </a:solidFill>
              </a:rPr>
              <a:t>+</a:t>
            </a:r>
            <a:endParaRPr lang="en-US" sz="3000" dirty="0"/>
          </a:p>
        </p:txBody>
      </p:sp>
      <p:sp>
        <p:nvSpPr>
          <p:cNvPr id="93" name="Block BSW"/>
          <p:cNvSpPr/>
          <p:nvPr/>
        </p:nvSpPr>
        <p:spPr>
          <a:xfrm>
            <a:off x="5532120" y="2331720"/>
            <a:ext cx="868680" cy="731520"/>
          </a:xfrm>
          <a:prstGeom prst="roundRect">
            <a:avLst>
              <a:gd name="adj" fmla="val 15000"/>
            </a:avLst>
          </a:prstGeom>
          <a:solidFill>
            <a:srgbClr val="7B2450"/>
          </a:solidFill>
          <a:ln w="12700">
            <a:solidFill>
              <a:srgbClr val="7B245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532120" y="23317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</a:t>
            </a:r>
            <a:endParaRPr lang="en-US" sz="3000" dirty="0"/>
          </a:p>
        </p:txBody>
      </p:sp>
      <p:sp>
        <p:nvSpPr>
          <p:cNvPr id="95" name="Text 93"/>
          <p:cNvSpPr txBox="1"/>
          <p:nvPr/>
        </p:nvSpPr>
        <p:spPr>
          <a:xfrm>
            <a:off x="5532120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6"/>
                </a:solidFill>
              </a:rPr>
              <a:t>BSW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446520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93A6"/>
                </a:solidFill>
              </a:rPr>
              <a:t>+</a:t>
            </a:r>
            <a:endParaRPr lang="en-US" sz="3000" dirty="0"/>
          </a:p>
        </p:txBody>
      </p:sp>
      <p:sp>
        <p:nvSpPr>
          <p:cNvPr id="97" name="!!accent"/>
          <p:cNvSpPr/>
          <p:nvPr/>
        </p:nvSpPr>
        <p:spPr>
          <a:xfrm>
            <a:off x="6903720" y="2331720"/>
            <a:ext cx="731520" cy="731520"/>
          </a:xfrm>
          <a:prstGeom prst="ellipse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263D"/>
                </a:solidFill>
              </a:rPr>
              <a:t>4 von wem?</a:t>
            </a:r>
            <a:endParaRPr lang="en-US" sz="1300" dirty="0"/>
          </a:p>
        </p:txBody>
      </p:sp>
      <p:sp>
        <p:nvSpPr>
          <p:cNvPr id="99" name="Text 97"/>
          <p:cNvSpPr txBox="1"/>
          <p:nvPr/>
        </p:nvSpPr>
        <p:spPr>
          <a:xfrm>
            <a:off x="7726680" y="2331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D"/>
                </a:solidFill>
              </a:rPr>
              <a:t>= 48</a:t>
            </a:r>
            <a:endParaRPr lang="en-US" sz="3200" dirty="0"/>
          </a:p>
        </p:txBody>
      </p:sp>
      <p:sp>
        <p:nvSpPr>
          <p:cNvPr id="100" name="Text 98"/>
          <p:cNvSpPr txBox="1"/>
          <p:nvPr/>
        </p:nvSpPr>
        <p:spPr>
          <a:xfrm>
            <a:off x="4297680" y="3703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41B2D"/>
                </a:solidFill>
              </a:rPr>
              <a:t>geheime Wahl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41B2D"/>
                </a:solidFill>
              </a:rPr>
              <a:t>erstmals in Deutschland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263D"/>
                </a:solidFill>
              </a:rPr>
              <a:t>2 · ANALYSE: POLITIKZYKLUS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B2D"/>
                </a:solidFill>
              </a:rPr>
              <a:t>Schritt 3: Entscheidung</a:t>
            </a:r>
            <a:endParaRPr lang="en-US" sz="3600" dirty="0"/>
          </a:p>
        </p:txBody>
      </p:sp>
      <p:sp>
        <p:nvSpPr>
          <p:cNvPr id="4" name="Kreislinie"/>
          <p:cNvSpPr/>
          <p:nvPr/>
        </p:nvSpPr>
        <p:spPr>
          <a:xfrm>
            <a:off x="1005840" y="1828800"/>
            <a:ext cx="2560320" cy="25603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8CCD4"/>
            </a:solidFill>
            <a:prstDash val="dash"/>
          </a:ln>
        </p:spPr>
      </p:sp>
      <p:sp>
        <p:nvSpPr>
          <p:cNvPr id="5" name="Phase Problem"/>
          <p:cNvSpPr/>
          <p:nvPr/>
        </p:nvSpPr>
        <p:spPr>
          <a:xfrm>
            <a:off x="1810512" y="1353312"/>
            <a:ext cx="950976" cy="950976"/>
          </a:xfrm>
          <a:prstGeom prst="ellipse">
            <a:avLst/>
          </a:prstGeom>
          <a:solidFill>
            <a:srgbClr val="F2F3F6"/>
          </a:solidFill>
          <a:ln w="12700">
            <a:solidFill>
              <a:srgbClr val="C8CC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Problem</a:t>
            </a:r>
            <a:endParaRPr lang="en-US" sz="950" dirty="0"/>
          </a:p>
        </p:txBody>
      </p:sp>
      <p:sp>
        <p:nvSpPr>
          <p:cNvPr id="6" name="Phase Agenda"/>
          <p:cNvSpPr/>
          <p:nvPr/>
        </p:nvSpPr>
        <p:spPr>
          <a:xfrm>
            <a:off x="3028017" y="2237881"/>
            <a:ext cx="950976" cy="950976"/>
          </a:xfrm>
          <a:prstGeom prst="ellipse">
            <a:avLst/>
          </a:prstGeom>
          <a:solidFill>
            <a:srgbClr val="F2F3F6"/>
          </a:solidFill>
          <a:ln w="12700">
            <a:solidFill>
              <a:srgbClr val="C8CC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Agenda</a:t>
            </a:r>
            <a:endParaRPr lang="en-US" sz="950" dirty="0"/>
          </a:p>
        </p:txBody>
      </p:sp>
      <p:sp>
        <p:nvSpPr>
          <p:cNvPr id="7" name="!!accent"/>
          <p:cNvSpPr/>
          <p:nvPr/>
        </p:nvSpPr>
        <p:spPr>
          <a:xfrm>
            <a:off x="2380091" y="3486263"/>
            <a:ext cx="1316736" cy="1316736"/>
          </a:xfrm>
          <a:prstGeom prst="ellipse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Entscheidung</a:t>
            </a:r>
            <a:endParaRPr lang="en-US" sz="1000" dirty="0"/>
          </a:p>
        </p:txBody>
      </p:sp>
      <p:sp>
        <p:nvSpPr>
          <p:cNvPr id="8" name="Phase Umsetzung"/>
          <p:cNvSpPr/>
          <p:nvPr/>
        </p:nvSpPr>
        <p:spPr>
          <a:xfrm>
            <a:off x="1058053" y="3669143"/>
            <a:ext cx="950976" cy="950976"/>
          </a:xfrm>
          <a:prstGeom prst="ellipse">
            <a:avLst/>
          </a:prstGeom>
          <a:solidFill>
            <a:srgbClr val="F2F3F6"/>
          </a:solidFill>
          <a:ln w="12700">
            <a:solidFill>
              <a:srgbClr val="C8CC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Umsetzung</a:t>
            </a:r>
            <a:endParaRPr lang="en-US" sz="950" dirty="0"/>
          </a:p>
        </p:txBody>
      </p:sp>
      <p:sp>
        <p:nvSpPr>
          <p:cNvPr id="9" name="Phase Bewertung"/>
          <p:cNvSpPr/>
          <p:nvPr/>
        </p:nvSpPr>
        <p:spPr>
          <a:xfrm>
            <a:off x="593007" y="2237881"/>
            <a:ext cx="950976" cy="950976"/>
          </a:xfrm>
          <a:prstGeom prst="ellipse">
            <a:avLst/>
          </a:prstGeom>
          <a:solidFill>
            <a:srgbClr val="F2F3F6"/>
          </a:solidFill>
          <a:ln w="12700">
            <a:solidFill>
              <a:srgbClr val="C8CC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B2D"/>
                </a:solidFill>
              </a:rPr>
              <a:t>Bewertung</a:t>
            </a:r>
            <a:endParaRPr lang="en-US" sz="950" dirty="0"/>
          </a:p>
        </p:txBody>
      </p:sp>
      <p:sp>
        <p:nvSpPr>
          <p:cNvPr id="10" name="Davor"/>
          <p:cNvSpPr/>
          <p:nvPr/>
        </p:nvSpPr>
        <p:spPr>
          <a:xfrm>
            <a:off x="4663440" y="169164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7830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</a:rPr>
              <a:t>Davor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B2D"/>
                </a:solidFill>
              </a:rPr>
              <a:t>6.9. Wahl → AfD stärkste Partei</a:t>
            </a:r>
            <a:endParaRPr lang="en-US" sz="1300" dirty="0"/>
          </a:p>
        </p:txBody>
      </p:sp>
      <p:sp>
        <p:nvSpPr>
          <p:cNvPr id="12" name="Danach"/>
          <p:cNvSpPr/>
          <p:nvPr/>
        </p:nvSpPr>
        <p:spPr>
          <a:xfrm>
            <a:off x="4663440" y="315468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FDE7EA"/>
          </a:solidFill>
          <a:ln w="12700">
            <a:solidFill>
              <a:srgbClr val="FDE7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2461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</a:rPr>
              <a:t>Danach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B2D"/>
                </a:solidFill>
              </a:rPr>
              <a:t>Dez.: Wahl Ministerpräsident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</a:rPr>
              <a:t>CDU / BSW können blockieren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263D"/>
                </a:solidFill>
              </a:rPr>
              <a:t>3 · KONTROVERSE &amp; URTEIL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B2D"/>
                </a:solidFill>
              </a:rPr>
              <a:t>Immer die stärkste Partei?</a:t>
            </a:r>
            <a:endParaRPr lang="en-US" sz="3600" dirty="0"/>
          </a:p>
        </p:txBody>
      </p:sp>
      <p:sp>
        <p:nvSpPr>
          <p:cNvPr id="4" name="JA"/>
          <p:cNvSpPr/>
          <p:nvPr/>
        </p:nvSpPr>
        <p:spPr>
          <a:xfrm>
            <a:off x="548640" y="16002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009EE0"/>
          </a:solidFill>
          <a:ln w="12700">
            <a:solidFill>
              <a:srgbClr val="009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JA</a:t>
            </a:r>
            <a:endParaRPr lang="en-US" sz="28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AfD, BSW: „ist üblich“</a:t>
            </a:r>
            <a:endParaRPr lang="en-US" sz="2800" dirty="0"/>
          </a:p>
        </p:txBody>
      </p:sp>
      <p:sp>
        <p:nvSpPr>
          <p:cNvPr id="6" name="NEIN"/>
          <p:cNvSpPr/>
          <p:nvPr/>
        </p:nvSpPr>
        <p:spPr>
          <a:xfrm>
            <a:off x="4983480" y="16002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46962B"/>
          </a:solidFill>
          <a:ln w="12700">
            <a:solidFill>
              <a:srgbClr val="4696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645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NEIN</a:t>
            </a:r>
            <a:endParaRPr lang="en-US" sz="28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Grüne, SPD: „rechtsextrem“</a:t>
            </a:r>
            <a:endParaRPr lang="en-US" sz="2800" dirty="0"/>
          </a:p>
        </p:txBody>
      </p:sp>
      <p:sp>
        <p:nvSpPr>
          <p:cNvPr id="8" name="!!accent"/>
          <p:cNvSpPr/>
          <p:nvPr/>
        </p:nvSpPr>
        <p:spPr>
          <a:xfrm>
            <a:off x="4224528" y="1920240"/>
            <a:ext cx="694944" cy="694944"/>
          </a:xfrm>
          <a:prstGeom prst="ellipse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vs.</a:t>
            </a:r>
            <a:endParaRPr lang="en-US" sz="1800" dirty="0"/>
          </a:p>
        </p:txBody>
      </p:sp>
      <p:sp>
        <p:nvSpPr>
          <p:cNvPr id="9" name="Wertkonflikt"/>
          <p:cNvSpPr/>
          <p:nvPr/>
        </p:nvSpPr>
        <p:spPr>
          <a:xfrm>
            <a:off x="548640" y="3154680"/>
            <a:ext cx="2578608" cy="594360"/>
          </a:xfrm>
          <a:prstGeom prst="roundRect">
            <a:avLst>
              <a:gd name="adj" fmla="val 18462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D"/>
                </a:solidFill>
              </a:rPr>
              <a:t>Wertkonflikt</a:t>
            </a:r>
            <a:endParaRPr lang="en-US" sz="1500" dirty="0"/>
          </a:p>
        </p:txBody>
      </p:sp>
      <p:sp>
        <p:nvSpPr>
          <p:cNvPr id="11" name="Maßstab: Legitimität"/>
          <p:cNvSpPr/>
          <p:nvPr/>
        </p:nvSpPr>
        <p:spPr>
          <a:xfrm>
            <a:off x="3273552" y="3154680"/>
            <a:ext cx="2578608" cy="594360"/>
          </a:xfrm>
          <a:prstGeom prst="roundRect">
            <a:avLst>
              <a:gd name="adj" fmla="val 18462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73552" y="31546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D"/>
                </a:solidFill>
              </a:rPr>
              <a:t>Maßstab: Legitimität</a:t>
            </a:r>
            <a:endParaRPr lang="en-US" sz="1500" dirty="0"/>
          </a:p>
        </p:txBody>
      </p:sp>
      <p:sp>
        <p:nvSpPr>
          <p:cNvPr id="13" name="Offen: Wer waren die 4?"/>
          <p:cNvSpPr/>
          <p:nvPr/>
        </p:nvSpPr>
        <p:spPr>
          <a:xfrm>
            <a:off x="5998464" y="3154680"/>
            <a:ext cx="2578608" cy="594360"/>
          </a:xfrm>
          <a:prstGeom prst="roundRect">
            <a:avLst>
              <a:gd name="adj" fmla="val 18462"/>
            </a:avLst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98464" y="31546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D00"/>
                </a:solidFill>
              </a:rPr>
              <a:t>Offen: Wer waren die 4?</a:t>
            </a:r>
            <a:endParaRPr lang="en-US" sz="1500" dirty="0"/>
          </a:p>
        </p:txBody>
      </p:sp>
      <p:sp>
        <p:nvSpPr>
          <p:cNvPr id="15" name="Frage"/>
          <p:cNvSpPr/>
          <p:nvPr/>
        </p:nvSpPr>
        <p:spPr>
          <a:xfrm>
            <a:off x="548640" y="3931920"/>
            <a:ext cx="8046720" cy="685800"/>
          </a:xfrm>
          <a:prstGeom prst="roundRect">
            <a:avLst>
              <a:gd name="adj" fmla="val 16000"/>
            </a:avLst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Soll immer die stärkste Partei den Landtagschef stellen?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1B2D"/>
                </a:solidFill>
              </a:rPr>
              <a:t>QUELLEN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B2D"/>
                </a:solidFill>
              </a:rPr>
              <a:t>Quellen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141B2D"/>
                </a:solidFill>
              </a:rPr>
              <a:t>Primärquelle: Landtag Sachsen-Anhalt: Plenarprotokoll, konstituierende Sitzung, 06.10.2026, S. ___ (Rede T. Rausch)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141B2D"/>
                </a:solidFill>
              </a:rPr>
              <a:t>Primärquelle: Verfassung Sachsen-Anhalt Art. 49 Abs. 1; Geschäftsordnung des Landtags § 4 Abs.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D"/>
                </a:solidFill>
              </a:rPr>
              <a:t>t-online: „Sachsen-Anhalt: 48 Stimmen für Rausch“, 06.10.2026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D"/>
                </a:solidFill>
              </a:rPr>
              <a:t>ZDFheute: „AfD-Landtagspräsident: So lief die Sitzung in Sachsen-Anhalt“, 06.10.2026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D"/>
                </a:solidFill>
              </a:rPr>
              <a:t>Tagesspiegel-Liveblog zur konstituierenden Sitzung, 06.10.2026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D"/>
                </a:solidFill>
              </a:rPr>
              <a:t>Landtag Sachsen-Anhalt: „Amtliches Endergebnis der Wahl steht fest“, 22.09.2026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41B2D"/>
                </a:solidFill>
              </a:rPr>
              <a:t>KI: Claude (Anthropic) – Recherche, Folien, Sprechzettel. Prompts: [eigene Prompts einfügen]</a:t>
            </a:r>
            <a:endParaRPr lang="en-US" sz="1300" dirty="0"/>
          </a:p>
        </p:txBody>
      </p:sp>
      <p:sp>
        <p:nvSpPr>
          <p:cNvPr id="5" name="!!accent"/>
          <p:cNvSpPr/>
          <p:nvPr/>
        </p:nvSpPr>
        <p:spPr>
          <a:xfrm>
            <a:off x="8229600" y="329184"/>
            <a:ext cx="256032" cy="256032"/>
          </a:xfrm>
          <a:prstGeom prst="ellipse">
            <a:avLst/>
          </a:prstGeom>
          <a:solidFill>
            <a:srgbClr val="D7263D"/>
          </a:solidFill>
          <a:ln>
            <a:solidFill>
              <a:srgbClr val="D72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wsflash einfach">
  <a:themeElements>
    <a:clrScheme name="Newsflash einfach">
      <a:dk1>
        <a:srgbClr val="141B2D"/>
      </a:dk1>
      <a:lt1>
        <a:srgbClr val="FFFFFF"/>
      </a:lt1>
      <a:dk2>
        <a:srgbClr val="3A4255"/>
      </a:dk2>
      <a:lt2>
        <a:srgbClr val="F2F3F6"/>
      </a:lt2>
      <a:accent1>
        <a:srgbClr val="D7263D"/>
      </a:accent1>
      <a:accent2>
        <a:srgbClr val="009EE0"/>
      </a:accent2>
      <a:accent3>
        <a:srgbClr val="46962B"/>
      </a:accent3>
      <a:accent4>
        <a:srgbClr val="7B2450"/>
      </a:accent4>
      <a:accent5>
        <a:srgbClr val="F4B400"/>
      </a:accent5>
      <a:accent6>
        <a:srgbClr val="2B2B2B"/>
      </a:accent6>
      <a:hlink>
        <a:srgbClr val="1D4E9E"/>
      </a:hlink>
      <a:folHlink>
        <a:srgbClr val="7B2450"/>
      </a:folHlink>
    </a:clrScheme>
    <a:fontScheme name="Newsflash einfa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Newsflash: Erster AfD-Landtagspräsident</dc:title>
  <dc:subject>PptxGenJS Presentation</dc:subject>
  <dc:creator>PptxGenJS</dc:creator>
  <cp:lastModifiedBy>PptxGenJS</cp:lastModifiedBy>
  <cp:revision>1</cp:revision>
  <dcterms:created xsi:type="dcterms:W3CDTF">2026-10-29T23:21:37Z</dcterms:created>
  <dcterms:modified xsi:type="dcterms:W3CDTF">2026-10-29T23:21:37Z</dcterms:modified>
</cp:coreProperties>
</file>